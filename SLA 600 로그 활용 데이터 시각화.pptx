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433" r:id="rId2"/>
    <p:sldId id="623" r:id="rId3"/>
    <p:sldId id="633" r:id="rId4"/>
    <p:sldId id="634" r:id="rId5"/>
    <p:sldId id="632" r:id="rId6"/>
    <p:sldId id="635" r:id="rId7"/>
    <p:sldId id="636" r:id="rId8"/>
    <p:sldId id="637" r:id="rId9"/>
    <p:sldId id="638" r:id="rId10"/>
    <p:sldId id="639" r:id="rId11"/>
    <p:sldId id="640" r:id="rId12"/>
    <p:sldId id="641" r:id="rId13"/>
    <p:sldId id="643" r:id="rId14"/>
    <p:sldId id="644" r:id="rId15"/>
    <p:sldId id="631" r:id="rId1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8FDCB2"/>
    <a:srgbClr val="8ECB7E"/>
    <a:srgbClr val="6CC17C"/>
    <a:srgbClr val="83C87D"/>
    <a:srgbClr val="63BE7B"/>
    <a:srgbClr val="E4E483"/>
    <a:srgbClr val="FDEB84"/>
    <a:srgbClr val="014B7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959" autoAdjust="0"/>
    <p:restoredTop sz="94437" autoAdjust="0"/>
  </p:normalViewPr>
  <p:slideViewPr>
    <p:cSldViewPr snapToGrid="0">
      <p:cViewPr varScale="1">
        <p:scale>
          <a:sx n="91" d="100"/>
          <a:sy n="91" d="100"/>
        </p:scale>
        <p:origin x="208" y="72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102B3D-1F22-4F7F-A1B0-BD4A9A3A5ECF}" type="datetimeFigureOut">
              <a:rPr lang="ko-KR" altLang="en-US" smtClean="0"/>
              <a:t>2025. 5. 13.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7DEF96-F12A-43B5-9EF9-CD7D55B0F39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41595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ore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7DEF96-F12A-43B5-9EF9-CD7D55B0F39F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91866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+mj-lt"/>
              <a:buNone/>
            </a:pPr>
            <a:r>
              <a:rPr lang="ko-KR" altLang="en-US" dirty="0"/>
              <a:t>우선 </a:t>
            </a:r>
            <a:r>
              <a:rPr lang="en-US" altLang="ko-KR" dirty="0"/>
              <a:t>SLA</a:t>
            </a:r>
            <a:r>
              <a:rPr lang="ko-KR" altLang="en-US" dirty="0" err="1"/>
              <a:t>를</a:t>
            </a:r>
            <a:r>
              <a:rPr lang="ko-KR" altLang="en-US" dirty="0"/>
              <a:t> 모르는 신입분들이 있으실 수도 있어서 구조와 작동과정부터 설명하겠습니다</a:t>
            </a:r>
            <a:r>
              <a:rPr lang="en-US" altLang="ko-KR" dirty="0"/>
              <a:t>.</a:t>
            </a:r>
          </a:p>
          <a:p>
            <a:pPr>
              <a:buFont typeface="+mj-lt"/>
              <a:buNone/>
            </a:pPr>
            <a:r>
              <a:rPr lang="ko-KR" altLang="en-US" dirty="0"/>
              <a:t>기계 안을 보시면 출력물이 </a:t>
            </a:r>
            <a:r>
              <a:rPr lang="ko-KR" altLang="en-US" dirty="0" err="1"/>
              <a:t>적층되는</a:t>
            </a:r>
            <a:r>
              <a:rPr lang="ko-KR" altLang="en-US" dirty="0"/>
              <a:t> 빌드 플레이트</a:t>
            </a:r>
            <a:r>
              <a:rPr lang="en-US" altLang="ko-KR" dirty="0"/>
              <a:t>,</a:t>
            </a:r>
            <a:r>
              <a:rPr lang="ko-KR" altLang="en-US" dirty="0"/>
              <a:t> 빌드 플레이트 위를 왔다갔다하며 기포를 제거해주는 </a:t>
            </a:r>
            <a:r>
              <a:rPr lang="ko-KR" altLang="en-US" dirty="0" err="1"/>
              <a:t>리코터</a:t>
            </a:r>
            <a:r>
              <a:rPr lang="en-US" altLang="ko-KR" dirty="0"/>
              <a:t>,</a:t>
            </a:r>
            <a:r>
              <a:rPr lang="ko-KR" altLang="en-US" dirty="0"/>
              <a:t> 레진 수위를 조절해주는 </a:t>
            </a:r>
            <a:r>
              <a:rPr lang="ko-KR" altLang="en-US" dirty="0" err="1"/>
              <a:t>레진블럭이</a:t>
            </a:r>
            <a:r>
              <a:rPr lang="ko-KR" altLang="en-US" dirty="0"/>
              <a:t> 존재합니다</a:t>
            </a:r>
            <a:r>
              <a:rPr lang="en-US" altLang="ko-KR" dirty="0"/>
              <a:t>.</a:t>
            </a:r>
            <a:r>
              <a:rPr lang="ko-KR" altLang="en-US" dirty="0"/>
              <a:t> 빌드 플레이트가 내려가고 </a:t>
            </a:r>
            <a:r>
              <a:rPr lang="ko-KR" altLang="en-US" dirty="0" err="1"/>
              <a:t>리코터가</a:t>
            </a:r>
            <a:r>
              <a:rPr lang="ko-KR" altLang="en-US" dirty="0"/>
              <a:t> 왔다갔다하고 레이저가 그 위에 조사하는 과정을 반복합니다</a:t>
            </a:r>
            <a:r>
              <a:rPr lang="en-US" altLang="ko-KR" dirty="0"/>
              <a:t>.</a:t>
            </a:r>
          </a:p>
          <a:p>
            <a:pPr>
              <a:buFont typeface="+mj-lt"/>
              <a:buNone/>
            </a:pPr>
            <a:endParaRPr lang="en-US" altLang="ko-KR" dirty="0"/>
          </a:p>
          <a:p>
            <a:pPr>
              <a:buFont typeface="+mj-lt"/>
              <a:buNone/>
            </a:pPr>
            <a:r>
              <a:rPr lang="ko-KR" altLang="en-US" dirty="0"/>
              <a:t>그 옆에 모니터에는 현재 몇 레이어 적층을 진행하고 있는지</a:t>
            </a:r>
            <a:r>
              <a:rPr lang="en-US" altLang="ko-KR" dirty="0"/>
              <a:t>,</a:t>
            </a:r>
            <a:r>
              <a:rPr lang="ko-KR" altLang="en-US" dirty="0"/>
              <a:t> 끝 레이어는 몇인지</a:t>
            </a:r>
            <a:r>
              <a:rPr lang="en-US" altLang="ko-KR" dirty="0"/>
              <a:t>,</a:t>
            </a:r>
            <a:r>
              <a:rPr lang="ko-KR" altLang="en-US" dirty="0"/>
              <a:t> 완성하는데 걸리는 시간 등이 </a:t>
            </a:r>
            <a:r>
              <a:rPr lang="ko-KR" altLang="en-US" dirty="0" err="1"/>
              <a:t>표시돼있습니다</a:t>
            </a:r>
            <a:r>
              <a:rPr lang="en-US" altLang="ko-KR" dirty="0"/>
              <a:t>.</a:t>
            </a:r>
            <a:r>
              <a:rPr lang="ko-KR" altLang="en-US" dirty="0"/>
              <a:t> 오른쪽 밑에는 앞서 말씀드렸던 빌드 플레이트</a:t>
            </a:r>
            <a:r>
              <a:rPr lang="en-US" altLang="ko-KR" dirty="0"/>
              <a:t>,</a:t>
            </a:r>
            <a:r>
              <a:rPr lang="ko-KR" altLang="en-US" dirty="0"/>
              <a:t> </a:t>
            </a:r>
            <a:r>
              <a:rPr lang="ko-KR" altLang="en-US" dirty="0" err="1"/>
              <a:t>리코터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r>
              <a:rPr lang="ko-KR" altLang="en-US" dirty="0" err="1"/>
              <a:t>레진블럭이</a:t>
            </a:r>
            <a:r>
              <a:rPr lang="ko-KR" altLang="en-US" dirty="0"/>
              <a:t> 언제 얼마나 움직였는지에 관한 로그 데이터들이 쌓이게 되는데요</a:t>
            </a:r>
            <a:r>
              <a:rPr lang="en-US" altLang="ko-KR" dirty="0"/>
              <a:t>.</a:t>
            </a:r>
          </a:p>
          <a:p>
            <a:pPr>
              <a:buFont typeface="+mj-lt"/>
              <a:buNone/>
            </a:pPr>
            <a:endParaRPr lang="en-US" altLang="ko-KR" dirty="0"/>
          </a:p>
          <a:p>
            <a:pPr>
              <a:buFont typeface="+mj-lt"/>
              <a:buNone/>
            </a:pPr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7DEF96-F12A-43B5-9EF9-CD7D55B0F39F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78925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A7C0A6-FDB1-1098-7329-DC198C9BDE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AF30F61-1D45-B8A7-C444-294DEBE0C2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97B3BD5-5D60-C13A-DE38-181A1812BF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+mj-lt"/>
              <a:buNone/>
            </a:pPr>
            <a:r>
              <a:rPr lang="ko-KR" altLang="en-US" dirty="0"/>
              <a:t>공정이 다 끝나면 오른쪽과 같은 사진으로 로그 파일을 확인할 수 있습니다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r>
              <a:rPr lang="en-US" altLang="ko-KR" dirty="0"/>
              <a:t>Axis2</a:t>
            </a:r>
            <a:r>
              <a:rPr lang="ko-KR" altLang="en-US" dirty="0"/>
              <a:t>가 </a:t>
            </a:r>
            <a:r>
              <a:rPr lang="ko-KR" altLang="en-US" dirty="0" err="1"/>
              <a:t>레진블럭을</a:t>
            </a:r>
            <a:r>
              <a:rPr lang="ko-KR" altLang="en-US" dirty="0"/>
              <a:t> 뜻하는데</a:t>
            </a:r>
            <a:r>
              <a:rPr lang="en-US" altLang="ko-KR" dirty="0"/>
              <a:t>,</a:t>
            </a:r>
            <a:r>
              <a:rPr lang="ko-KR" altLang="en-US" dirty="0"/>
              <a:t> 움직이기 전에는 이 위치에 있었고 움직인 후 현재는 이 위치에 </a:t>
            </a:r>
            <a:r>
              <a:rPr lang="ko-KR" altLang="en-US" dirty="0" err="1"/>
              <a:t>있다를</a:t>
            </a:r>
            <a:r>
              <a:rPr lang="ko-KR" altLang="en-US" dirty="0"/>
              <a:t> 보여줍니다</a:t>
            </a:r>
            <a:r>
              <a:rPr lang="en-US" altLang="ko-KR" dirty="0"/>
              <a:t>.</a:t>
            </a:r>
          </a:p>
          <a:p>
            <a:pPr>
              <a:buFont typeface="+mj-lt"/>
              <a:buNone/>
            </a:pPr>
            <a:endParaRPr lang="en-US" altLang="ko-KR" dirty="0"/>
          </a:p>
          <a:p>
            <a:pPr>
              <a:buFont typeface="+mj-lt"/>
              <a:buNone/>
            </a:pPr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A4B94AF-002F-EE08-0ECD-13C74ADB92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7DEF96-F12A-43B5-9EF9-CD7D55B0F39F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55837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023F3C-BF4F-98CB-1625-D12371BF1C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17D1EC2-5AA4-40A6-BD25-5476E59D95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F222261-2D9D-F55D-9C6C-3EB9F61089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+mj-lt"/>
              <a:buNone/>
            </a:pPr>
            <a:r>
              <a:rPr lang="ko-KR" altLang="en-US" dirty="0"/>
              <a:t>이 사진은 현재 </a:t>
            </a:r>
            <a:r>
              <a:rPr lang="en-US" altLang="ko-KR" dirty="0"/>
              <a:t>K-DIVA</a:t>
            </a:r>
            <a:r>
              <a:rPr lang="ko-KR" altLang="en-US" dirty="0"/>
              <a:t>에서 확인 가능한 </a:t>
            </a:r>
            <a:r>
              <a:rPr lang="en-US" altLang="ko-KR" dirty="0"/>
              <a:t>M160</a:t>
            </a:r>
            <a:r>
              <a:rPr lang="ko-KR" altLang="en-US" dirty="0"/>
              <a:t> 장비의 </a:t>
            </a:r>
            <a:r>
              <a:rPr lang="ko-KR" altLang="en-US" dirty="0" err="1"/>
              <a:t>머신로그인데요</a:t>
            </a:r>
            <a:r>
              <a:rPr lang="en-US" altLang="ko-KR" dirty="0"/>
              <a:t>.</a:t>
            </a:r>
            <a:r>
              <a:rPr lang="ko-KR" altLang="en-US" dirty="0"/>
              <a:t> 산소농도</a:t>
            </a:r>
            <a:r>
              <a:rPr lang="en-US" altLang="ko-KR" dirty="0"/>
              <a:t>,</a:t>
            </a:r>
            <a:r>
              <a:rPr lang="ko-KR" altLang="en-US" dirty="0"/>
              <a:t> 압력</a:t>
            </a:r>
            <a:r>
              <a:rPr lang="en-US" altLang="ko-KR" dirty="0"/>
              <a:t>,</a:t>
            </a:r>
            <a:r>
              <a:rPr lang="ko-KR" altLang="en-US" dirty="0"/>
              <a:t> </a:t>
            </a:r>
            <a:r>
              <a:rPr lang="ko-KR" altLang="en-US" dirty="0" err="1"/>
              <a:t>빌드플레이트</a:t>
            </a:r>
            <a:r>
              <a:rPr lang="ko-KR" altLang="en-US" dirty="0"/>
              <a:t> 온도와 같은 정보를 시간별 그래프로 나타낸 것입니다</a:t>
            </a:r>
            <a:r>
              <a:rPr lang="en-US" altLang="ko-KR" dirty="0"/>
              <a:t>.</a:t>
            </a:r>
            <a:r>
              <a:rPr lang="ko-KR" altLang="en-US" dirty="0"/>
              <a:t> 교수님께서 저번에 이 사진과 같이 </a:t>
            </a:r>
            <a:r>
              <a:rPr lang="en-US" altLang="ko-KR" dirty="0"/>
              <a:t>SLA600</a:t>
            </a:r>
            <a:r>
              <a:rPr lang="ko-KR" altLang="en-US" dirty="0"/>
              <a:t> 장비도 로그 데이터를 활용해서 시각화를 해보자는 과제를 주셔서 진행해봤습니다</a:t>
            </a:r>
            <a:r>
              <a:rPr lang="en-US" altLang="ko-KR" dirty="0"/>
              <a:t>.</a:t>
            </a:r>
            <a:r>
              <a:rPr lang="ko-KR" altLang="en-US" dirty="0" err="1"/>
              <a:t>ㅇ</a:t>
            </a:r>
            <a:endParaRPr lang="en-US" altLang="ko-KR" dirty="0"/>
          </a:p>
          <a:p>
            <a:pPr>
              <a:buFont typeface="+mj-lt"/>
              <a:buNone/>
            </a:pPr>
            <a:endParaRPr lang="en-US" altLang="ko-KR" dirty="0"/>
          </a:p>
          <a:p>
            <a:pPr>
              <a:buFont typeface="+mj-lt"/>
              <a:buNone/>
            </a:pPr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D210631-ECE9-BD7F-92ED-648747C269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7DEF96-F12A-43B5-9EF9-CD7D55B0F39F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46968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20A771-8F50-FA02-E24B-C4056DCBC4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9B2400A-CDA5-F0A8-1915-CEFC724B0D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665D2F6-89D9-5B53-CD36-5F613FAB9B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+mj-lt"/>
              <a:buNone/>
            </a:pPr>
            <a:r>
              <a:rPr lang="ko-KR" altLang="en-US" dirty="0"/>
              <a:t>첫 </a:t>
            </a:r>
            <a:r>
              <a:rPr lang="ko-KR" altLang="en-US" dirty="0" err="1"/>
              <a:t>번째로</a:t>
            </a:r>
            <a:r>
              <a:rPr lang="ko-KR" altLang="en-US" dirty="0"/>
              <a:t> 로그파일을 업로드합니다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973A429-6E19-EE96-D613-8F3FE00A92A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7DEF96-F12A-43B5-9EF9-CD7D55B0F39F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6297426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E77580-F263-54CD-7361-9A6E8130AF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7885862-C218-1575-C54D-A4A93B0E41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B0ABA0B-4E8B-2368-E413-A1DB49A2E5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+mj-lt"/>
              <a:buNone/>
            </a:pPr>
            <a:r>
              <a:rPr lang="en-US" altLang="ko-KR" dirty="0"/>
              <a:t>0</a:t>
            </a:r>
            <a:r>
              <a:rPr lang="ko-KR" altLang="en-US" dirty="0"/>
              <a:t>번 축과 엘리베이터라는 단어가 </a:t>
            </a:r>
            <a:r>
              <a:rPr lang="ko-KR" altLang="en-US" dirty="0" err="1"/>
              <a:t>빌드플레이트를</a:t>
            </a:r>
            <a:r>
              <a:rPr lang="ko-KR" altLang="en-US" dirty="0"/>
              <a:t> </a:t>
            </a:r>
            <a:r>
              <a:rPr lang="ko-KR" altLang="en-US" dirty="0" err="1"/>
              <a:t>가르키므로</a:t>
            </a:r>
            <a:r>
              <a:rPr lang="ko-KR" altLang="en-US" dirty="0"/>
              <a:t> 단어를 필터링합니다</a:t>
            </a:r>
            <a:r>
              <a:rPr lang="en-US" altLang="ko-KR" dirty="0"/>
              <a:t>.</a:t>
            </a:r>
          </a:p>
          <a:p>
            <a:pPr>
              <a:buFont typeface="+mj-lt"/>
              <a:buNone/>
            </a:pPr>
            <a:endParaRPr lang="en-US" altLang="ko-KR" dirty="0"/>
          </a:p>
          <a:p>
            <a:pPr>
              <a:buFont typeface="+mj-lt"/>
              <a:buNone/>
            </a:pPr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EB9540C-2B68-6EAA-0B3A-19640DE017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7DEF96-F12A-43B5-9EF9-CD7D55B0F39F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852223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9C94E4-5BE2-D233-CF11-1DA2D922F5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C77E381-E475-07E7-219E-321681CD40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4279CA9-D5A2-11D1-0237-1B1AFF8C70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+mj-lt"/>
              <a:buNone/>
            </a:pPr>
            <a:r>
              <a:rPr lang="en-US" altLang="ko-KR" dirty="0"/>
              <a:t>1</a:t>
            </a:r>
            <a:r>
              <a:rPr lang="ko-KR" altLang="en-US" dirty="0"/>
              <a:t>번 축과 </a:t>
            </a:r>
            <a:r>
              <a:rPr lang="ko-KR" altLang="en-US" dirty="0" err="1"/>
              <a:t>리코터라는</a:t>
            </a:r>
            <a:r>
              <a:rPr lang="ko-KR" altLang="en-US" dirty="0"/>
              <a:t> 단어가 </a:t>
            </a:r>
            <a:r>
              <a:rPr lang="ko-KR" altLang="en-US" dirty="0" err="1"/>
              <a:t>리코터를</a:t>
            </a:r>
            <a:r>
              <a:rPr lang="ko-KR" altLang="en-US" dirty="0"/>
              <a:t> 가리키므로 필터링해주고</a:t>
            </a:r>
            <a:endParaRPr lang="en-US" altLang="ko-KR" dirty="0"/>
          </a:p>
          <a:p>
            <a:pPr>
              <a:buFont typeface="+mj-lt"/>
              <a:buNone/>
            </a:pPr>
            <a:endParaRPr lang="en-US" altLang="ko-KR" dirty="0"/>
          </a:p>
          <a:p>
            <a:pPr>
              <a:buFont typeface="+mj-lt"/>
              <a:buNone/>
            </a:pPr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0FABD30-7D34-EE05-38B9-655899B0BE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7DEF96-F12A-43B5-9EF9-CD7D55B0F39F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915410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DB6381-F763-A5BB-8EBE-139B7B2F47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B44EE37-F06A-31BD-0CF9-E2B9F7C479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C627112-A6E9-6AE7-7FD5-801784F471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+mj-lt"/>
              <a:buNone/>
            </a:pPr>
            <a:r>
              <a:rPr lang="ko-KR" altLang="en-US" dirty="0" err="1"/>
              <a:t>레진블럭은</a:t>
            </a:r>
            <a:r>
              <a:rPr lang="ko-KR" altLang="en-US" dirty="0"/>
              <a:t> 전</a:t>
            </a:r>
            <a:r>
              <a:rPr lang="en-US" altLang="ko-KR" dirty="0"/>
              <a:t>,</a:t>
            </a:r>
            <a:r>
              <a:rPr lang="ko-KR" altLang="en-US" dirty="0"/>
              <a:t> 후가 포함된 문장에서 위치를 발견할 수 있어서 </a:t>
            </a:r>
            <a:r>
              <a:rPr lang="ko-KR" altLang="en-US" dirty="0" err="1"/>
              <a:t>비포와</a:t>
            </a:r>
            <a:r>
              <a:rPr lang="ko-KR" altLang="en-US" dirty="0"/>
              <a:t> </a:t>
            </a:r>
            <a:r>
              <a:rPr lang="ko-KR" altLang="en-US" dirty="0" err="1"/>
              <a:t>에프터로</a:t>
            </a:r>
            <a:r>
              <a:rPr lang="ko-KR" altLang="en-US" dirty="0"/>
              <a:t> 필터링합니다</a:t>
            </a:r>
            <a:r>
              <a:rPr lang="en-US" altLang="ko-KR" dirty="0"/>
              <a:t>.</a:t>
            </a:r>
          </a:p>
          <a:p>
            <a:pPr>
              <a:buFont typeface="+mj-lt"/>
              <a:buNone/>
            </a:pPr>
            <a:endParaRPr lang="en-US" altLang="ko-KR" dirty="0"/>
          </a:p>
          <a:p>
            <a:pPr>
              <a:buFont typeface="+mj-lt"/>
              <a:buNone/>
            </a:pPr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9A46134-6B41-224F-5670-F8949A5565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7DEF96-F12A-43B5-9EF9-CD7D55B0F39F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068750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1F9660-051F-E538-F8BD-6D380A2A9C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40E7156-6780-2A19-F03A-192DADA5F4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0E12928-936B-76D1-5465-040553808E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+mj-lt"/>
              <a:buNone/>
            </a:pPr>
            <a:r>
              <a:rPr lang="ko-KR" altLang="en-US" dirty="0"/>
              <a:t>시간과 현재 위치쌍을 묶어서 각각 시간</a:t>
            </a:r>
            <a:r>
              <a:rPr lang="en-US" altLang="ko-KR" dirty="0"/>
              <a:t>,</a:t>
            </a:r>
            <a:r>
              <a:rPr lang="ko-KR" altLang="en-US" dirty="0"/>
              <a:t> 위치 변수에 값을 모아줍니다</a:t>
            </a:r>
            <a:r>
              <a:rPr lang="en-US" altLang="ko-KR" dirty="0"/>
              <a:t>.</a:t>
            </a:r>
            <a:r>
              <a:rPr lang="ko-KR" altLang="en-US" dirty="0"/>
              <a:t> 그러고 시간을 </a:t>
            </a:r>
            <a:r>
              <a:rPr lang="en-US" altLang="ko-KR" dirty="0"/>
              <a:t>x</a:t>
            </a:r>
            <a:r>
              <a:rPr lang="ko-KR" altLang="en-US" dirty="0"/>
              <a:t>축</a:t>
            </a:r>
            <a:r>
              <a:rPr lang="en-US" altLang="ko-KR" dirty="0"/>
              <a:t>,</a:t>
            </a:r>
            <a:r>
              <a:rPr lang="ko-KR" altLang="en-US" dirty="0"/>
              <a:t> 위치를 </a:t>
            </a:r>
            <a:r>
              <a:rPr lang="en-US" altLang="ko-KR" dirty="0"/>
              <a:t>y</a:t>
            </a:r>
            <a:r>
              <a:rPr lang="ko-KR" altLang="en-US" dirty="0"/>
              <a:t>축으로 해서 그래프 시각화를 진행했습니다</a:t>
            </a:r>
            <a:r>
              <a:rPr lang="en-US" altLang="ko-KR" dirty="0"/>
              <a:t>.</a:t>
            </a:r>
          </a:p>
          <a:p>
            <a:pPr>
              <a:buFont typeface="+mj-lt"/>
              <a:buNone/>
            </a:pPr>
            <a:endParaRPr lang="en-US" altLang="ko-KR" dirty="0"/>
          </a:p>
          <a:p>
            <a:pPr>
              <a:buFont typeface="+mj-lt"/>
              <a:buNone/>
            </a:pPr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CA90252-72B7-6821-15C3-9886412393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7DEF96-F12A-43B5-9EF9-CD7D55B0F39F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020727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0082F1-33CA-0B84-633C-616BC16E10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9C98DE5-1375-ED2C-40F4-DA5DA3A1E7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CFAC1F2-6D36-4C02-96F0-31B16AE84D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+mj-lt"/>
              <a:buNone/>
            </a:pPr>
            <a:r>
              <a:rPr lang="ko-KR" altLang="en-US" dirty="0"/>
              <a:t>실제로 공정시간이 확연히 차이나는 두 로그 파일로 시각화를 해봤습니다</a:t>
            </a:r>
            <a:r>
              <a:rPr lang="en-US" altLang="ko-KR" dirty="0"/>
              <a:t>.</a:t>
            </a:r>
          </a:p>
          <a:p>
            <a:pPr>
              <a:buFont typeface="+mj-lt"/>
              <a:buNone/>
            </a:pPr>
            <a:endParaRPr lang="en-US" altLang="ko-KR" dirty="0"/>
          </a:p>
          <a:p>
            <a:pPr>
              <a:buFont typeface="+mj-lt"/>
              <a:buNone/>
            </a:pPr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A4BA9BF-D8B0-9D20-3701-6D6D754282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7DEF96-F12A-43B5-9EF9-CD7D55B0F39F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684807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A53004-373B-6AF2-9C1B-697896C3C5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5E8D8F7-4EB1-2950-06FB-09675AA720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AEB747E-D42C-6FCB-545F-D445D09634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+mj-lt"/>
              <a:buNone/>
            </a:pPr>
            <a:r>
              <a:rPr lang="ko-KR" altLang="en-US" dirty="0"/>
              <a:t>빌드 플레이트는 레진 표면 위로 </a:t>
            </a:r>
            <a:r>
              <a:rPr lang="ko-KR" altLang="en-US" dirty="0" err="1"/>
              <a:t>올라와있는</a:t>
            </a:r>
            <a:r>
              <a:rPr lang="ko-KR" altLang="en-US" dirty="0"/>
              <a:t> 상태가 </a:t>
            </a:r>
            <a:r>
              <a:rPr lang="en-US" altLang="ko-KR" dirty="0"/>
              <a:t>0</a:t>
            </a:r>
            <a:r>
              <a:rPr lang="ko-KR" altLang="en-US" dirty="0"/>
              <a:t>이고</a:t>
            </a:r>
            <a:r>
              <a:rPr lang="en-US" altLang="ko-KR" dirty="0"/>
              <a:t>,</a:t>
            </a:r>
            <a:r>
              <a:rPr lang="ko-KR" altLang="en-US" dirty="0"/>
              <a:t> </a:t>
            </a:r>
            <a:r>
              <a:rPr lang="ko-KR" altLang="en-US" dirty="0" err="1"/>
              <a:t>적층할</a:t>
            </a:r>
            <a:r>
              <a:rPr lang="ko-KR" altLang="en-US" dirty="0"/>
              <a:t> 수록 </a:t>
            </a:r>
            <a:r>
              <a:rPr lang="ko-KR" altLang="en-US" dirty="0" err="1"/>
              <a:t>빌드플레이트가</a:t>
            </a:r>
            <a:r>
              <a:rPr lang="ko-KR" altLang="en-US" dirty="0"/>
              <a:t> 내려가는데요</a:t>
            </a:r>
            <a:r>
              <a:rPr lang="en-US" altLang="ko-KR" dirty="0"/>
              <a:t>.</a:t>
            </a:r>
            <a:r>
              <a:rPr lang="ko-KR" altLang="en-US" dirty="0"/>
              <a:t> 그 때 </a:t>
            </a:r>
            <a:r>
              <a:rPr lang="ko-KR" altLang="en-US" dirty="0" err="1"/>
              <a:t>위치값은</a:t>
            </a:r>
            <a:r>
              <a:rPr lang="ko-KR" altLang="en-US" dirty="0"/>
              <a:t> 높아집니다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r>
              <a:rPr lang="en-US" altLang="ko-KR" dirty="0"/>
              <a:t>SLA</a:t>
            </a:r>
            <a:r>
              <a:rPr lang="ko-KR" altLang="en-US" dirty="0"/>
              <a:t> </a:t>
            </a:r>
            <a:r>
              <a:rPr lang="en-US" altLang="ko-KR" dirty="0"/>
              <a:t>600</a:t>
            </a:r>
            <a:r>
              <a:rPr lang="ko-KR" altLang="en-US" dirty="0"/>
              <a:t> 장비는 서포터를 생성할 때 </a:t>
            </a:r>
            <a:r>
              <a:rPr lang="ko-KR" altLang="en-US" dirty="0" err="1"/>
              <a:t>빌드플레이트를</a:t>
            </a:r>
            <a:r>
              <a:rPr lang="ko-KR" altLang="en-US" dirty="0"/>
              <a:t> 위 아래로 왔다갔다하므로 빨간색으로 표시한 부분이 서포터 생성부분이라는 것을 알 수 있습니다</a:t>
            </a:r>
            <a:r>
              <a:rPr lang="en-US" altLang="ko-KR" dirty="0"/>
              <a:t>.</a:t>
            </a:r>
          </a:p>
          <a:p>
            <a:pPr>
              <a:buFont typeface="+mj-lt"/>
              <a:buNone/>
            </a:pPr>
            <a:endParaRPr lang="en-US" altLang="ko-KR" dirty="0"/>
          </a:p>
          <a:p>
            <a:pPr>
              <a:buFont typeface="+mj-lt"/>
              <a:buNone/>
            </a:pPr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A5241E7-D86E-8C45-2F34-97D7E7BF88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7DEF96-F12A-43B5-9EF9-CD7D55B0F39F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111194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2E532C-DCA6-7AE0-392F-41A6E56210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629D61A-6194-A9E3-30A5-064222E33E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777F933-794F-AAAE-1A65-3321307CA0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+mj-lt"/>
              <a:buNone/>
            </a:pPr>
            <a:endParaRPr lang="en-US" altLang="ko-KR" dirty="0"/>
          </a:p>
          <a:p>
            <a:pPr>
              <a:buFont typeface="+mj-lt"/>
              <a:buNone/>
            </a:pPr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6C41083-1A99-266B-F472-6178EA043B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7DEF96-F12A-43B5-9EF9-CD7D55B0F39F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721668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105109-AC80-6996-2FA2-9F8537B51A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9B2C8BE-C43E-CC00-D423-D0C865AAC0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FEE0E42-800E-607A-6F3E-9A80234924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+mj-lt"/>
              <a:buNone/>
            </a:pPr>
            <a:endParaRPr lang="en-US" altLang="ko-KR" dirty="0"/>
          </a:p>
          <a:p>
            <a:pPr>
              <a:buFont typeface="+mj-lt"/>
              <a:buNone/>
            </a:pPr>
            <a:endParaRPr lang="en-US" altLang="ko-KR" dirty="0"/>
          </a:p>
          <a:p>
            <a:pPr>
              <a:buFont typeface="+mj-lt"/>
              <a:buNone/>
            </a:pPr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8330FBB-E4EC-07E0-C570-380A350C87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7DEF96-F12A-43B5-9EF9-CD7D55B0F39F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327204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38F58F-971A-32BE-0A4B-A787A3AA9C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5429276-5D64-CF00-C1F7-2371C17AB5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0F352E8-4813-6396-CDCD-AB420F5027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+mj-lt"/>
              <a:buNone/>
            </a:pPr>
            <a:endParaRPr lang="en-US" altLang="ko-KR" dirty="0"/>
          </a:p>
          <a:p>
            <a:pPr>
              <a:buFont typeface="+mj-lt"/>
              <a:buNone/>
            </a:pPr>
            <a:endParaRPr lang="en-US" altLang="ko-KR" dirty="0"/>
          </a:p>
          <a:p>
            <a:pPr>
              <a:buFont typeface="+mj-lt"/>
              <a:buNone/>
            </a:pPr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8D0442A-B5C4-BC14-42C2-D01A4DA103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7DEF96-F12A-43B5-9EF9-CD7D55B0F39F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22351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jpe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B59C1F-FCB4-4B38-8DC2-CAA0869985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15D5C7E-06E4-4722-9D07-4E44C2C7DE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A00CB8D-94A6-4501-88E3-45152E33E3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8A3391-CB87-43F6-864E-472B79C67C7B}" type="datetimeFigureOut">
              <a:rPr lang="ko-KR" altLang="en-US" smtClean="0"/>
              <a:t>2025. 5. 13.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2C23058-FAA0-423B-B89C-651CEF0101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E42DF92-E825-44D5-8F96-15E95CDE65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A1EEF-B154-4879-930B-8290498585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51194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9B4ADD-04B1-4BF1-A8BA-5066121144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871E226-2526-46A2-B029-719887E82C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87FD0BD-BD38-4D56-8EBC-FF2B75D5BA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8A3391-CB87-43F6-864E-472B79C67C7B}" type="datetimeFigureOut">
              <a:rPr lang="ko-KR" altLang="en-US" smtClean="0"/>
              <a:t>2025. 5. 13.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F2DE228-2D0D-41FE-AB29-7AEA644691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18412F9-133A-4E3B-9753-43ADA59A47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A1EEF-B154-4879-930B-8290498585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83773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F00E7AF-5B13-4149-AD30-0B8DDFA235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833DB59-AEC7-4D6D-99EB-FBE151DECD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50A7968-48C7-4179-A5D0-3216A0DB85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8A3391-CB87-43F6-864E-472B79C67C7B}" type="datetimeFigureOut">
              <a:rPr lang="ko-KR" altLang="en-US" smtClean="0"/>
              <a:t>2025. 5. 13.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C960969-8078-453E-B77C-F8581F7B9F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91E1F4B-0C60-4C34-8388-DF89C637B3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A1EEF-B154-4879-930B-8290498585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73668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E0BFE11-84C1-422D-8FDF-4EF9994223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695FFCD-3254-4073-854C-07969C85C14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8BC3310-D76E-4B7E-97F3-A1BE9CE997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A1E7B3A-9A4F-4C1E-9622-597F102D7C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8A3391-CB87-43F6-864E-472B79C67C7B}" type="datetimeFigureOut">
              <a:rPr lang="ko-KR" altLang="en-US" smtClean="0"/>
              <a:t>2025. 5. 13.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E5CA30A-9975-4D00-91DE-B5230939B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EE6194C-0E04-4755-8E4D-42637397B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A1EEF-B154-4879-930B-8290498585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018605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90D3FA6-47C4-4B55-8CF8-2E91452F12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B134A2E-7D65-4766-B406-CBC20CE4A7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064AB5F-F058-48EE-83BA-452608A66C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90C187E5-D0BD-4B78-98F5-D11A489048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71215B7-EACB-4C94-89F1-E39C3E3ACA4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D687DEFC-2713-4532-81CC-884FC9EE94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8A3391-CB87-43F6-864E-472B79C67C7B}" type="datetimeFigureOut">
              <a:rPr lang="ko-KR" altLang="en-US" smtClean="0"/>
              <a:t>2025. 5. 13.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2059EDE4-ECCD-4960-BA95-F364DE6D5B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400E0805-A173-40E8-B090-C659AB330F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A1EEF-B154-4879-930B-8290498585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61944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4CA5401-EB88-4619-9195-AC07FBABF2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E3D34A0-2016-48DD-AB37-48FE0A1278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8A3391-CB87-43F6-864E-472B79C67C7B}" type="datetimeFigureOut">
              <a:rPr lang="ko-KR" altLang="en-US" smtClean="0"/>
              <a:t>2025. 5. 13.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ADBC84F-EFF5-41BF-B3CC-9C4D18DED7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C120AE9-153C-42A8-AB67-6A80357EFC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A1EEF-B154-4879-930B-8290498585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09913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90A4B329-4758-480B-9C01-DC86141B8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8A3391-CB87-43F6-864E-472B79C67C7B}" type="datetimeFigureOut">
              <a:rPr lang="ko-KR" altLang="en-US" smtClean="0"/>
              <a:t>2025. 5. 13.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A4F0CE37-8413-4120-A4BD-8B64005926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EA5C711-E5AA-4130-B0BA-A4781B5BD5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A1EEF-B154-4879-930B-8290498585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85687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306C45-358C-4B0F-B2F4-1FCEFA1905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9D7482A-5EC7-4801-9802-ECDBA69FF1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6AB7412-2845-48FD-9A37-0A418CAC68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ADAEBBE-D073-4251-A0FB-884EB3884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8A3391-CB87-43F6-864E-472B79C67C7B}" type="datetimeFigureOut">
              <a:rPr lang="ko-KR" altLang="en-US" smtClean="0"/>
              <a:t>2025. 5. 13.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D9491D0-5311-4EA6-A585-254F0BE626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31A060A-CD0F-4858-BDE0-A5565474E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A1EEF-B154-4879-930B-8290498585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78732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B27B66F-ED35-48F2-B8F8-D4643F5FEE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5D2F0C55-09FD-419E-9199-9C4BE4B7364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D1F786B-3FC3-4190-9571-00BF5AB524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43F68E5-0672-42FD-95A2-27858F5BF3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8A3391-CB87-43F6-864E-472B79C67C7B}" type="datetimeFigureOut">
              <a:rPr lang="ko-KR" altLang="en-US" smtClean="0"/>
              <a:t>2025. 5. 13.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4BA4FAB-F548-40B6-8AD7-1F2325595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D599248-DA63-4463-84B1-65C82F3152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A1EEF-B154-4879-930B-8290498585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438740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0565AB-AE17-4330-8373-907B9E9391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2D80AF5-7E81-4827-8036-D6C3970470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8A96BEA-0B3F-467A-91CB-404B62721D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8A3391-CB87-43F6-864E-472B79C67C7B}" type="datetimeFigureOut">
              <a:rPr lang="ko-KR" altLang="en-US" smtClean="0"/>
              <a:t>2025. 5. 13.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6B451A5-4FF1-4E9A-AD11-80511B2346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D43913E-7BEE-49A2-B6E7-CB4847C42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A1EEF-B154-4879-930B-8290498585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40184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5CD2D1BA-E71D-407A-B04B-F19289F2EF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C588E55-2DFD-4694-A49A-8307E5B224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F6F903F-AED8-481F-ACFD-E8BBCE82E4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8A3391-CB87-43F6-864E-472B79C67C7B}" type="datetimeFigureOut">
              <a:rPr lang="ko-KR" altLang="en-US" smtClean="0"/>
              <a:t>2025. 5. 13.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9BDB0E6-34EA-4334-B97D-054B7F7F1F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92339EC-64BE-4609-A0B6-B04C907779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A1EEF-B154-4879-930B-8290498585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18479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1754"/>
          <a:stretch>
            <a:fillRect/>
          </a:stretch>
        </p:blipFill>
        <p:spPr>
          <a:xfrm>
            <a:off x="665" y="1770486"/>
            <a:ext cx="12191335" cy="2302330"/>
          </a:xfrm>
          <a:prstGeom prst="rect">
            <a:avLst/>
          </a:prstGeom>
        </p:spPr>
      </p:pic>
      <p:pic>
        <p:nvPicPr>
          <p:cNvPr id="8" name="Picture 2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84660" y="1770486"/>
            <a:ext cx="4770669" cy="6477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" name="Picture 12" descr="ê´ë ¨ ì´ë¯¸ì§">
            <a:extLst>
              <a:ext uri="{FF2B5EF4-FFF2-40B4-BE49-F238E27FC236}">
                <a16:creationId xmlns:a16="http://schemas.microsoft.com/office/drawing/2014/main" id="{56AD6B0A-C05D-486E-9645-FA6B302B5ED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28975" y="176242"/>
            <a:ext cx="1426354" cy="412058"/>
          </a:xfrm>
          <a:prstGeom prst="rect">
            <a:avLst/>
          </a:prstGeom>
          <a:solidFill>
            <a:schemeClr val="bg1"/>
          </a:solidFill>
        </p:spPr>
      </p:pic>
    </p:spTree>
    <p:extLst>
      <p:ext uri="{BB962C8B-B14F-4D97-AF65-F5344CB8AC3E}">
        <p14:creationId xmlns:p14="http://schemas.microsoft.com/office/powerpoint/2010/main" val="274477433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0"/>
            <a:ext cx="12192000" cy="908044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" name="Picture 12" descr="ê´ë ¨ ì´ë¯¸ì§">
            <a:extLst>
              <a:ext uri="{FF2B5EF4-FFF2-40B4-BE49-F238E27FC236}">
                <a16:creationId xmlns:a16="http://schemas.microsoft.com/office/drawing/2014/main" id="{56AD6B0A-C05D-486E-9645-FA6B302B5ED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462" y="6289310"/>
            <a:ext cx="1426354" cy="412058"/>
          </a:xfrm>
          <a:prstGeom prst="rect">
            <a:avLst/>
          </a:prstGeom>
          <a:solidFill>
            <a:schemeClr val="bg1"/>
          </a:solidFill>
        </p:spPr>
      </p:pic>
    </p:spTree>
    <p:extLst>
      <p:ext uri="{BB962C8B-B14F-4D97-AF65-F5344CB8AC3E}">
        <p14:creationId xmlns:p14="http://schemas.microsoft.com/office/powerpoint/2010/main" val="652792739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E98352FC-9A3B-4F7D-B004-39144D0808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7F2FCCA-16BD-46AE-91DF-975B0A8920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ECD0F97-5E42-408B-9811-1E73611840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8A3391-CB87-43F6-864E-472B79C67C7B}" type="datetimeFigureOut">
              <a:rPr lang="ko-KR" altLang="en-US" smtClean="0"/>
              <a:t>2025. 5. 13.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CFDDBFD-96A7-494F-AF4E-847DCA0803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EBA8BA6-19E7-4208-8013-077CE263E2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3A1EEF-B154-4879-930B-8290498585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16866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1" r:id="rId12"/>
    <p:sldLayoutId id="2147483662" r:id="rId13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7.jpg"/><Relationship Id="rId5" Type="http://schemas.openxmlformats.org/officeDocument/2006/relationships/image" Target="../media/image6.jpg"/><Relationship Id="rId4" Type="http://schemas.openxmlformats.org/officeDocument/2006/relationships/image" Target="../media/image5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0174CFD-45C1-FBFC-FCF5-8C4901F83949}"/>
              </a:ext>
            </a:extLst>
          </p:cNvPr>
          <p:cNvSpPr txBox="1"/>
          <p:nvPr/>
        </p:nvSpPr>
        <p:spPr>
          <a:xfrm>
            <a:off x="1121791" y="2498178"/>
            <a:ext cx="963419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b="1" dirty="0">
                <a:solidFill>
                  <a:srgbClr val="FFFFFF"/>
                </a:solidFill>
              </a:rPr>
              <a:t>SLA 600 </a:t>
            </a:r>
            <a:r>
              <a:rPr lang="ko-KR" altLang="en-US" sz="4400" b="1" dirty="0">
                <a:solidFill>
                  <a:srgbClr val="FFFFFF"/>
                </a:solidFill>
              </a:rPr>
              <a:t>로그 활용 데이터 시각화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F52C076-D70A-A9CE-1FEE-98BC79C772A3}"/>
              </a:ext>
            </a:extLst>
          </p:cNvPr>
          <p:cNvSpPr txBox="1"/>
          <p:nvPr/>
        </p:nvSpPr>
        <p:spPr>
          <a:xfrm>
            <a:off x="4043362" y="4200524"/>
            <a:ext cx="4105275" cy="8697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b="1" dirty="0"/>
              <a:t>2025. 5.</a:t>
            </a:r>
            <a:r>
              <a:rPr lang="ko-KR" altLang="en-US" b="1" dirty="0"/>
              <a:t> </a:t>
            </a:r>
            <a:r>
              <a:rPr lang="en-US" altLang="ko-KR" b="1" dirty="0"/>
              <a:t>13</a:t>
            </a:r>
          </a:p>
          <a:p>
            <a:pPr algn="ctr">
              <a:lnSpc>
                <a:spcPct val="150000"/>
              </a:lnSpc>
            </a:pPr>
            <a:r>
              <a:rPr lang="ko-KR" altLang="en-US" b="1" dirty="0"/>
              <a:t>이경림</a:t>
            </a:r>
          </a:p>
        </p:txBody>
      </p:sp>
    </p:spTree>
    <p:extLst>
      <p:ext uri="{BB962C8B-B14F-4D97-AF65-F5344CB8AC3E}">
        <p14:creationId xmlns:p14="http://schemas.microsoft.com/office/powerpoint/2010/main" val="39310718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73DDF93A-C703-4DF5-8218-091A86162515}"/>
              </a:ext>
            </a:extLst>
          </p:cNvPr>
          <p:cNvSpPr/>
          <p:nvPr/>
        </p:nvSpPr>
        <p:spPr>
          <a:xfrm>
            <a:off x="187693" y="92328"/>
            <a:ext cx="10663824" cy="65701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32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86B4EBB-35A1-E4F0-E849-4EB9ED50037B}"/>
              </a:ext>
            </a:extLst>
          </p:cNvPr>
          <p:cNvSpPr txBox="1"/>
          <p:nvPr/>
        </p:nvSpPr>
        <p:spPr>
          <a:xfrm>
            <a:off x="354233" y="159224"/>
            <a:ext cx="574176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solidFill>
                  <a:schemeClr val="bg1"/>
                </a:solidFill>
              </a:rPr>
              <a:t>1. SLA</a:t>
            </a:r>
            <a:r>
              <a:rPr lang="ko-KR" altLang="en-US" sz="3200" b="1" dirty="0">
                <a:solidFill>
                  <a:schemeClr val="bg1"/>
                </a:solidFill>
              </a:rPr>
              <a:t> </a:t>
            </a:r>
            <a:r>
              <a:rPr lang="en-US" altLang="ko-KR" sz="3200" b="1" dirty="0">
                <a:solidFill>
                  <a:schemeClr val="bg1"/>
                </a:solidFill>
              </a:rPr>
              <a:t>600</a:t>
            </a:r>
            <a:r>
              <a:rPr lang="ko-KR" altLang="en-US" sz="3200" b="1" dirty="0">
                <a:solidFill>
                  <a:schemeClr val="bg1"/>
                </a:solidFill>
              </a:rPr>
              <a:t> 작동과정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E2F6326-1264-3F17-799A-7D03F3949129}"/>
              </a:ext>
            </a:extLst>
          </p:cNvPr>
          <p:cNvSpPr txBox="1"/>
          <p:nvPr/>
        </p:nvSpPr>
        <p:spPr>
          <a:xfrm>
            <a:off x="1400720" y="6302212"/>
            <a:ext cx="1506362" cy="215444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&lt;</a:t>
            </a:r>
            <a:r>
              <a:rPr lang="ko-KR" altLang="en-US" sz="800" b="1" dirty="0"/>
              <a:t>그림</a:t>
            </a:r>
            <a:r>
              <a:rPr lang="en-US" altLang="ko-KR" sz="800" b="1" dirty="0"/>
              <a:t>1&gt; SLA 600</a:t>
            </a:r>
            <a:endParaRPr lang="ko-KR" altLang="en-US" sz="800" b="1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18095A10-0B91-FDD0-BB3E-46C869792FD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568" t="15803" r="17568" b="15595"/>
          <a:stretch/>
        </p:blipFill>
        <p:spPr>
          <a:xfrm>
            <a:off x="-206258" y="1266034"/>
            <a:ext cx="4506410" cy="4972108"/>
          </a:xfrm>
          <a:prstGeom prst="rect">
            <a:avLst/>
          </a:prstGeom>
          <a:ln w="12700">
            <a:noFill/>
          </a:ln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D2972832-B0E6-6DAB-5F41-568AD3451C5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1111" t="7843" r="7516" b="8497"/>
          <a:stretch/>
        </p:blipFill>
        <p:spPr>
          <a:xfrm>
            <a:off x="4007015" y="3879684"/>
            <a:ext cx="3829725" cy="2953041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20" name="도넛[D] 19">
            <a:extLst>
              <a:ext uri="{FF2B5EF4-FFF2-40B4-BE49-F238E27FC236}">
                <a16:creationId xmlns:a16="http://schemas.microsoft.com/office/drawing/2014/main" id="{4812D60C-7C0B-CF2F-6709-9DD59166116D}"/>
              </a:ext>
            </a:extLst>
          </p:cNvPr>
          <p:cNvSpPr/>
          <p:nvPr/>
        </p:nvSpPr>
        <p:spPr>
          <a:xfrm>
            <a:off x="2627816" y="2167885"/>
            <a:ext cx="1378607" cy="1283149"/>
          </a:xfrm>
          <a:prstGeom prst="donut">
            <a:avLst>
              <a:gd name="adj" fmla="val 3156"/>
            </a:avLst>
          </a:prstGeom>
          <a:solidFill>
            <a:srgbClr val="FFFF00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>
              <a:solidFill>
                <a:schemeClr val="tx1"/>
              </a:solidFill>
            </a:endParaRPr>
          </a:p>
        </p:txBody>
      </p:sp>
      <p:sp>
        <p:nvSpPr>
          <p:cNvPr id="23" name="도넛[D] 22">
            <a:extLst>
              <a:ext uri="{FF2B5EF4-FFF2-40B4-BE49-F238E27FC236}">
                <a16:creationId xmlns:a16="http://schemas.microsoft.com/office/drawing/2014/main" id="{F16B3A22-5829-27AA-5B2E-157F904D0B49}"/>
              </a:ext>
            </a:extLst>
          </p:cNvPr>
          <p:cNvSpPr/>
          <p:nvPr/>
        </p:nvSpPr>
        <p:spPr>
          <a:xfrm>
            <a:off x="94873" y="2173015"/>
            <a:ext cx="2154146" cy="2181340"/>
          </a:xfrm>
          <a:prstGeom prst="donut">
            <a:avLst>
              <a:gd name="adj" fmla="val 1971"/>
            </a:avLst>
          </a:prstGeom>
          <a:solidFill>
            <a:srgbClr val="FFFF00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>
              <a:solidFill>
                <a:schemeClr val="tx1"/>
              </a:solidFill>
            </a:endParaRPr>
          </a:p>
        </p:txBody>
      </p:sp>
      <p:pic>
        <p:nvPicPr>
          <p:cNvPr id="29" name="그림 28" descr="실내, 벽, 디자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15608557-3E96-AA23-847F-92CE12B1AD4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6722"/>
          <a:stretch/>
        </p:blipFill>
        <p:spPr>
          <a:xfrm>
            <a:off x="7635448" y="4032292"/>
            <a:ext cx="4565348" cy="2644859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31" name="그림 30" descr="텍스트, 스크린샷, 컴퓨터, 멀티미디어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4BFA5B3C-EF0D-121A-FFE8-89AAD6E9781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7175" y="350977"/>
            <a:ext cx="4710878" cy="3481391"/>
          </a:xfrm>
          <a:prstGeom prst="rect">
            <a:avLst/>
          </a:prstGeom>
        </p:spPr>
      </p:pic>
      <p:sp>
        <p:nvSpPr>
          <p:cNvPr id="33" name="액자 32">
            <a:extLst>
              <a:ext uri="{FF2B5EF4-FFF2-40B4-BE49-F238E27FC236}">
                <a16:creationId xmlns:a16="http://schemas.microsoft.com/office/drawing/2014/main" id="{44E4D143-E7FF-EE13-3411-07824E009B10}"/>
              </a:ext>
            </a:extLst>
          </p:cNvPr>
          <p:cNvSpPr/>
          <p:nvPr/>
        </p:nvSpPr>
        <p:spPr>
          <a:xfrm>
            <a:off x="8314660" y="1467293"/>
            <a:ext cx="1223393" cy="1983741"/>
          </a:xfrm>
          <a:prstGeom prst="frame">
            <a:avLst>
              <a:gd name="adj1" fmla="val 6048"/>
            </a:avLst>
          </a:prstGeom>
          <a:solidFill>
            <a:srgbClr val="FF0000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>
              <a:solidFill>
                <a:schemeClr val="tx1"/>
              </a:solidFill>
            </a:endParaRPr>
          </a:p>
        </p:txBody>
      </p:sp>
      <p:sp>
        <p:nvSpPr>
          <p:cNvPr id="34" name="액자 33">
            <a:extLst>
              <a:ext uri="{FF2B5EF4-FFF2-40B4-BE49-F238E27FC236}">
                <a16:creationId xmlns:a16="http://schemas.microsoft.com/office/drawing/2014/main" id="{BC22158C-F7BA-B068-CD79-D0245FE908E8}"/>
              </a:ext>
            </a:extLst>
          </p:cNvPr>
          <p:cNvSpPr/>
          <p:nvPr/>
        </p:nvSpPr>
        <p:spPr>
          <a:xfrm>
            <a:off x="4731481" y="5103634"/>
            <a:ext cx="2424223" cy="1541721"/>
          </a:xfrm>
          <a:prstGeom prst="frame">
            <a:avLst>
              <a:gd name="adj1" fmla="val 1390"/>
            </a:avLst>
          </a:prstGeom>
          <a:solidFill>
            <a:srgbClr val="FFFF00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>
              <a:solidFill>
                <a:schemeClr val="tx1"/>
              </a:solidFill>
            </a:endParaRPr>
          </a:p>
        </p:txBody>
      </p:sp>
      <p:sp>
        <p:nvSpPr>
          <p:cNvPr id="35" name="액자 34">
            <a:extLst>
              <a:ext uri="{FF2B5EF4-FFF2-40B4-BE49-F238E27FC236}">
                <a16:creationId xmlns:a16="http://schemas.microsoft.com/office/drawing/2014/main" id="{504B7F87-33E9-32E8-9296-4FF2140EFCCE}"/>
              </a:ext>
            </a:extLst>
          </p:cNvPr>
          <p:cNvSpPr/>
          <p:nvPr/>
        </p:nvSpPr>
        <p:spPr>
          <a:xfrm>
            <a:off x="7836740" y="5420991"/>
            <a:ext cx="4241843" cy="944748"/>
          </a:xfrm>
          <a:prstGeom prst="frame">
            <a:avLst>
              <a:gd name="adj1" fmla="val 2795"/>
            </a:avLst>
          </a:prstGeom>
          <a:solidFill>
            <a:srgbClr val="FFFF00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>
              <a:solidFill>
                <a:schemeClr val="tx1"/>
              </a:solidFill>
            </a:endParaRPr>
          </a:p>
        </p:txBody>
      </p:sp>
      <p:sp>
        <p:nvSpPr>
          <p:cNvPr id="36" name="액자 35">
            <a:extLst>
              <a:ext uri="{FF2B5EF4-FFF2-40B4-BE49-F238E27FC236}">
                <a16:creationId xmlns:a16="http://schemas.microsoft.com/office/drawing/2014/main" id="{BF254B9B-0561-36B2-ED9C-2A9A2A8F524C}"/>
              </a:ext>
            </a:extLst>
          </p:cNvPr>
          <p:cNvSpPr/>
          <p:nvPr/>
        </p:nvSpPr>
        <p:spPr>
          <a:xfrm>
            <a:off x="8716002" y="4723069"/>
            <a:ext cx="1416823" cy="658144"/>
          </a:xfrm>
          <a:prstGeom prst="frame">
            <a:avLst>
              <a:gd name="adj1" fmla="val 2945"/>
            </a:avLst>
          </a:prstGeom>
          <a:solidFill>
            <a:srgbClr val="FFFF00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dirty="0">
              <a:solidFill>
                <a:schemeClr val="tx1"/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06E0086-8928-A45C-A420-55CF9B1C7230}"/>
              </a:ext>
            </a:extLst>
          </p:cNvPr>
          <p:cNvSpPr txBox="1"/>
          <p:nvPr/>
        </p:nvSpPr>
        <p:spPr>
          <a:xfrm>
            <a:off x="4210813" y="4682809"/>
            <a:ext cx="2115879" cy="369332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r>
              <a:rPr kumimoji="1" lang="ko-KR" altLang="en-US" b="1" dirty="0">
                <a:solidFill>
                  <a:schemeClr val="bg1"/>
                </a:solidFill>
              </a:rPr>
              <a:t>빌드 플레이트</a:t>
            </a:r>
            <a:endParaRPr kumimoji="1" lang="ko-Kore-KR" altLang="en-US" b="1" dirty="0">
              <a:solidFill>
                <a:schemeClr val="bg1"/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715C03E-B599-E02C-78DC-F11284D4CE4D}"/>
              </a:ext>
            </a:extLst>
          </p:cNvPr>
          <p:cNvSpPr txBox="1"/>
          <p:nvPr/>
        </p:nvSpPr>
        <p:spPr>
          <a:xfrm>
            <a:off x="7658062" y="5068951"/>
            <a:ext cx="2115879" cy="369332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r>
              <a:rPr kumimoji="1" lang="ko-KR" altLang="en-US" b="1" dirty="0" err="1">
                <a:solidFill>
                  <a:schemeClr val="bg1"/>
                </a:solidFill>
              </a:rPr>
              <a:t>리코터</a:t>
            </a:r>
            <a:endParaRPr kumimoji="1" lang="ko-Kore-KR" altLang="en-US" b="1" dirty="0">
              <a:solidFill>
                <a:schemeClr val="bg1"/>
              </a:solidFill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F05B9CE-A5CF-7D6C-F207-14240EB96E44}"/>
              </a:ext>
            </a:extLst>
          </p:cNvPr>
          <p:cNvSpPr txBox="1"/>
          <p:nvPr/>
        </p:nvSpPr>
        <p:spPr>
          <a:xfrm>
            <a:off x="8480113" y="4338933"/>
            <a:ext cx="2115879" cy="369332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r>
              <a:rPr kumimoji="1" lang="ko-KR" altLang="en-US" b="1" dirty="0">
                <a:solidFill>
                  <a:schemeClr val="bg1"/>
                </a:solidFill>
              </a:rPr>
              <a:t>레진 </a:t>
            </a:r>
            <a:r>
              <a:rPr kumimoji="1" lang="ko-KR" altLang="en-US" b="1" dirty="0" err="1">
                <a:solidFill>
                  <a:schemeClr val="bg1"/>
                </a:solidFill>
              </a:rPr>
              <a:t>블럭</a:t>
            </a:r>
            <a:endParaRPr kumimoji="1" lang="ko-Kore-KR" altLang="en-US" b="1" dirty="0">
              <a:solidFill>
                <a:schemeClr val="bg1"/>
              </a:solidFill>
            </a:endParaRPr>
          </a:p>
        </p:txBody>
      </p:sp>
      <p:cxnSp>
        <p:nvCxnSpPr>
          <p:cNvPr id="21" name="꺾인 연결선[E] 20">
            <a:extLst>
              <a:ext uri="{FF2B5EF4-FFF2-40B4-BE49-F238E27FC236}">
                <a16:creationId xmlns:a16="http://schemas.microsoft.com/office/drawing/2014/main" id="{159247AA-3278-A600-737D-A6784C2D1D20}"/>
              </a:ext>
            </a:extLst>
          </p:cNvPr>
          <p:cNvCxnSpPr>
            <a:cxnSpLocks/>
          </p:cNvCxnSpPr>
          <p:nvPr/>
        </p:nvCxnSpPr>
        <p:spPr>
          <a:xfrm flipV="1">
            <a:off x="3941856" y="1956391"/>
            <a:ext cx="1193670" cy="773100"/>
          </a:xfrm>
          <a:prstGeom prst="bentConnector3">
            <a:avLst/>
          </a:prstGeom>
          <a:ln w="127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꺾인 연결선[E] 23">
            <a:extLst>
              <a:ext uri="{FF2B5EF4-FFF2-40B4-BE49-F238E27FC236}">
                <a16:creationId xmlns:a16="http://schemas.microsoft.com/office/drawing/2014/main" id="{B7B5EFFD-832B-1219-55CA-04F0A0111ACD}"/>
              </a:ext>
            </a:extLst>
          </p:cNvPr>
          <p:cNvCxnSpPr>
            <a:cxnSpLocks/>
          </p:cNvCxnSpPr>
          <p:nvPr/>
        </p:nvCxnSpPr>
        <p:spPr>
          <a:xfrm>
            <a:off x="1992681" y="3902612"/>
            <a:ext cx="2419831" cy="1339239"/>
          </a:xfrm>
          <a:prstGeom prst="bentConnector3">
            <a:avLst>
              <a:gd name="adj1" fmla="val 50000"/>
            </a:avLst>
          </a:prstGeom>
          <a:ln w="127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027898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3" grpId="0" animBg="1"/>
      <p:bldP spid="33" grpId="0" animBg="1"/>
      <p:bldP spid="34" grpId="0" animBg="1"/>
      <p:bldP spid="35" grpId="0" animBg="1"/>
      <p:bldP spid="36" grpId="0" animBg="1"/>
      <p:bldP spid="38" grpId="0"/>
      <p:bldP spid="39" grpId="0"/>
      <p:bldP spid="4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F348A1-1424-F4F6-2B28-DB1AFB592F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096F60D1-2F92-70BB-9455-B3478B17E1A0}"/>
              </a:ext>
            </a:extLst>
          </p:cNvPr>
          <p:cNvSpPr/>
          <p:nvPr/>
        </p:nvSpPr>
        <p:spPr>
          <a:xfrm>
            <a:off x="187693" y="92328"/>
            <a:ext cx="10663824" cy="65701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32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9026131-EFF5-6647-909F-3EF9E4C2F47D}"/>
              </a:ext>
            </a:extLst>
          </p:cNvPr>
          <p:cNvSpPr txBox="1"/>
          <p:nvPr/>
        </p:nvSpPr>
        <p:spPr>
          <a:xfrm>
            <a:off x="354233" y="159224"/>
            <a:ext cx="574176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solidFill>
                  <a:schemeClr val="bg1"/>
                </a:solidFill>
              </a:rPr>
              <a:t>2. SLA 600 </a:t>
            </a:r>
            <a:r>
              <a:rPr lang="ko-KR" altLang="en-US" sz="3200" b="1" dirty="0">
                <a:solidFill>
                  <a:schemeClr val="bg1"/>
                </a:solidFill>
              </a:rPr>
              <a:t>로그</a:t>
            </a:r>
          </a:p>
        </p:txBody>
      </p:sp>
      <p:pic>
        <p:nvPicPr>
          <p:cNvPr id="3" name="그림 2" descr="텍스트, 스크린샷, 컴퓨터, 멀티미디어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9C57B3E8-A615-6CB2-5DC4-0EF3E1F0D8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632995" y="1218485"/>
            <a:ext cx="6563224" cy="4850295"/>
          </a:xfrm>
          <a:prstGeom prst="rect">
            <a:avLst/>
          </a:prstGeom>
        </p:spPr>
      </p:pic>
      <p:sp>
        <p:nvSpPr>
          <p:cNvPr id="4" name="액자 3">
            <a:extLst>
              <a:ext uri="{FF2B5EF4-FFF2-40B4-BE49-F238E27FC236}">
                <a16:creationId xmlns:a16="http://schemas.microsoft.com/office/drawing/2014/main" id="{F7F96BDD-9C2D-6898-757D-BDCE29456859}"/>
              </a:ext>
            </a:extLst>
          </p:cNvPr>
          <p:cNvSpPr/>
          <p:nvPr/>
        </p:nvSpPr>
        <p:spPr>
          <a:xfrm>
            <a:off x="2183490" y="2785609"/>
            <a:ext cx="1614787" cy="2700791"/>
          </a:xfrm>
          <a:prstGeom prst="frame">
            <a:avLst>
              <a:gd name="adj1" fmla="val 343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dirty="0">
              <a:solidFill>
                <a:schemeClr val="tx1"/>
              </a:solidFill>
            </a:endParaRPr>
          </a:p>
        </p:txBody>
      </p:sp>
      <p:pic>
        <p:nvPicPr>
          <p:cNvPr id="7" name="그림 6" descr="텍스트, 스크린샷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53C12719-5692-7CDF-5F4E-FA202494418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8480" y="1326663"/>
            <a:ext cx="7772400" cy="4850295"/>
          </a:xfrm>
          <a:prstGeom prst="rect">
            <a:avLst/>
          </a:prstGeom>
        </p:spPr>
      </p:pic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9D8CBC09-1E62-02EA-E79B-ED33370902FF}"/>
              </a:ext>
            </a:extLst>
          </p:cNvPr>
          <p:cNvCxnSpPr>
            <a:stCxn id="4" idx="3"/>
          </p:cNvCxnSpPr>
          <p:nvPr/>
        </p:nvCxnSpPr>
        <p:spPr>
          <a:xfrm flipV="1">
            <a:off x="3798277" y="4067908"/>
            <a:ext cx="1620203" cy="68097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4A5DFD8F-6D4C-9925-D822-34AAA803A518}"/>
              </a:ext>
            </a:extLst>
          </p:cNvPr>
          <p:cNvSpPr txBox="1"/>
          <p:nvPr/>
        </p:nvSpPr>
        <p:spPr>
          <a:xfrm>
            <a:off x="4012291" y="3440723"/>
            <a:ext cx="54751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/>
              <a:t>공정 종료 후</a:t>
            </a:r>
            <a:r>
              <a:rPr lang="en-US" altLang="ko-KR" sz="1400" b="1" dirty="0"/>
              <a:t>,</a:t>
            </a:r>
          </a:p>
          <a:p>
            <a:r>
              <a:rPr lang="ko-KR" altLang="en-US" sz="1400" b="1" dirty="0"/>
              <a:t>로그 확인 가능 </a:t>
            </a:r>
            <a:endParaRPr lang="en-US" altLang="ko-KR" sz="1400" b="1" dirty="0"/>
          </a:p>
        </p:txBody>
      </p:sp>
    </p:spTree>
    <p:extLst>
      <p:ext uri="{BB962C8B-B14F-4D97-AF65-F5344CB8AC3E}">
        <p14:creationId xmlns:p14="http://schemas.microsoft.com/office/powerpoint/2010/main" val="10476808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B07144-0B58-4D8B-283A-E3D158E6DA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FACE2970-C73E-4C41-D99E-EC5D26E7178C}"/>
              </a:ext>
            </a:extLst>
          </p:cNvPr>
          <p:cNvSpPr/>
          <p:nvPr/>
        </p:nvSpPr>
        <p:spPr>
          <a:xfrm>
            <a:off x="187693" y="92328"/>
            <a:ext cx="10663824" cy="65701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32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53E7716-7A0C-164F-D29B-210ED41E1DF1}"/>
              </a:ext>
            </a:extLst>
          </p:cNvPr>
          <p:cNvSpPr txBox="1"/>
          <p:nvPr/>
        </p:nvSpPr>
        <p:spPr>
          <a:xfrm>
            <a:off x="354233" y="159224"/>
            <a:ext cx="574176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solidFill>
                  <a:schemeClr val="bg1"/>
                </a:solidFill>
              </a:rPr>
              <a:t>3. </a:t>
            </a:r>
            <a:r>
              <a:rPr lang="ko-KR" altLang="en-US" sz="3200" b="1" dirty="0">
                <a:solidFill>
                  <a:schemeClr val="bg1"/>
                </a:solidFill>
              </a:rPr>
              <a:t>시각화 예시 </a:t>
            </a:r>
            <a:r>
              <a:rPr lang="en-US" altLang="ko-KR" sz="3200" b="1" dirty="0">
                <a:solidFill>
                  <a:schemeClr val="bg1"/>
                </a:solidFill>
              </a:rPr>
              <a:t>(K-DIVA)</a:t>
            </a:r>
            <a:endParaRPr lang="ko-KR" altLang="en-US" sz="3200" b="1" dirty="0">
              <a:solidFill>
                <a:schemeClr val="bg1"/>
              </a:solidFill>
            </a:endParaRPr>
          </a:p>
        </p:txBody>
      </p:sp>
      <p:pic>
        <p:nvPicPr>
          <p:cNvPr id="4" name="그림 3" descr="텍스트, 스크린샷, 멀티미디어 소프트웨어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5A2521E0-DC2C-9ACF-3E8B-2FB0E69EDF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0444" y="1043353"/>
            <a:ext cx="9191112" cy="517977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B472969-1DC9-73ED-BD3A-40B1C9121D7F}"/>
              </a:ext>
            </a:extLst>
          </p:cNvPr>
          <p:cNvSpPr txBox="1"/>
          <p:nvPr/>
        </p:nvSpPr>
        <p:spPr>
          <a:xfrm>
            <a:off x="4708976" y="6301696"/>
            <a:ext cx="277404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&lt;</a:t>
            </a:r>
            <a:r>
              <a:rPr lang="ko-KR" altLang="en-US" sz="800" b="1" dirty="0"/>
              <a:t>그림</a:t>
            </a:r>
            <a:r>
              <a:rPr lang="en-US" altLang="ko-KR" sz="800" b="1" dirty="0"/>
              <a:t>2&gt; K-DIVA</a:t>
            </a:r>
            <a:r>
              <a:rPr lang="ko-KR" altLang="en-US" sz="800" b="1" dirty="0"/>
              <a:t>에서 본 </a:t>
            </a:r>
            <a:r>
              <a:rPr lang="en-US" altLang="ko-KR" sz="800" b="1" dirty="0"/>
              <a:t>M160 </a:t>
            </a:r>
            <a:r>
              <a:rPr lang="ko-KR" altLang="en-US" sz="800" b="1" dirty="0"/>
              <a:t>장비의 </a:t>
            </a:r>
            <a:r>
              <a:rPr lang="ko-KR" altLang="en-US" sz="800" b="1" dirty="0" err="1"/>
              <a:t>머신로그</a:t>
            </a:r>
            <a:endParaRPr lang="ko-KR" altLang="en-US" sz="800" b="1" dirty="0"/>
          </a:p>
        </p:txBody>
      </p:sp>
    </p:spTree>
    <p:extLst>
      <p:ext uri="{BB962C8B-B14F-4D97-AF65-F5344CB8AC3E}">
        <p14:creationId xmlns:p14="http://schemas.microsoft.com/office/powerpoint/2010/main" val="16946991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1E9E53-8022-5CA4-1664-687A62757B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CC4C086E-E691-FDBA-1660-C0C663B6E07E}"/>
              </a:ext>
            </a:extLst>
          </p:cNvPr>
          <p:cNvSpPr/>
          <p:nvPr/>
        </p:nvSpPr>
        <p:spPr>
          <a:xfrm>
            <a:off x="187693" y="92328"/>
            <a:ext cx="10663824" cy="65701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32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5C83B1E-331E-47A1-B0B6-0F16CC441295}"/>
              </a:ext>
            </a:extLst>
          </p:cNvPr>
          <p:cNvSpPr txBox="1"/>
          <p:nvPr/>
        </p:nvSpPr>
        <p:spPr>
          <a:xfrm>
            <a:off x="354233" y="159224"/>
            <a:ext cx="574176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solidFill>
                  <a:schemeClr val="bg1"/>
                </a:solidFill>
              </a:rPr>
              <a:t>4. </a:t>
            </a:r>
            <a:r>
              <a:rPr lang="ko-KR" altLang="en-US" sz="3200" b="1" dirty="0">
                <a:solidFill>
                  <a:schemeClr val="bg1"/>
                </a:solidFill>
              </a:rPr>
              <a:t>시각화 코드</a:t>
            </a:r>
          </a:p>
        </p:txBody>
      </p:sp>
      <p:pic>
        <p:nvPicPr>
          <p:cNvPr id="3" name="그림 2" descr="텍스트, 폰트, 스크린샷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BAEAF9D1-9C49-26BF-0457-DC941DE6340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764"/>
          <a:stretch/>
        </p:blipFill>
        <p:spPr>
          <a:xfrm>
            <a:off x="187693" y="1232962"/>
            <a:ext cx="13567559" cy="4990037"/>
          </a:xfrm>
          <a:prstGeom prst="rect">
            <a:avLst/>
          </a:prstGeom>
        </p:spPr>
      </p:pic>
      <p:cxnSp>
        <p:nvCxnSpPr>
          <p:cNvPr id="4" name="직선 화살표 연결선 3">
            <a:extLst>
              <a:ext uri="{FF2B5EF4-FFF2-40B4-BE49-F238E27FC236}">
                <a16:creationId xmlns:a16="http://schemas.microsoft.com/office/drawing/2014/main" id="{0CC369F3-56BF-3D15-002C-69F04A181B7D}"/>
              </a:ext>
            </a:extLst>
          </p:cNvPr>
          <p:cNvCxnSpPr>
            <a:cxnSpLocks/>
          </p:cNvCxnSpPr>
          <p:nvPr/>
        </p:nvCxnSpPr>
        <p:spPr>
          <a:xfrm>
            <a:off x="7642593" y="1890485"/>
            <a:ext cx="1246043" cy="0"/>
          </a:xfrm>
          <a:prstGeom prst="straightConnector1">
            <a:avLst/>
          </a:prstGeom>
          <a:ln w="381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131D758F-4AC6-E2B7-BB3A-9A49536D1018}"/>
              </a:ext>
            </a:extLst>
          </p:cNvPr>
          <p:cNvSpPr txBox="1"/>
          <p:nvPr/>
        </p:nvSpPr>
        <p:spPr>
          <a:xfrm>
            <a:off x="8947635" y="1636197"/>
            <a:ext cx="5029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ore-KR" altLang="en-US" sz="2400" dirty="0">
                <a:solidFill>
                  <a:srgbClr val="00B0F0"/>
                </a:solidFill>
              </a:rPr>
              <a:t>로그</a:t>
            </a:r>
            <a:r>
              <a:rPr kumimoji="1" lang="ko-KR" altLang="en-US" sz="2400" dirty="0">
                <a:solidFill>
                  <a:srgbClr val="00B0F0"/>
                </a:solidFill>
              </a:rPr>
              <a:t> 파일 업로드</a:t>
            </a:r>
            <a:endParaRPr kumimoji="1" lang="ko-Kore-KR" altLang="en-US" sz="240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78713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CEE4D0-7F19-B0B6-5E36-E1F59EF9D4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4818EEFA-D18B-76C1-76EF-B43F75443CD4}"/>
              </a:ext>
            </a:extLst>
          </p:cNvPr>
          <p:cNvSpPr/>
          <p:nvPr/>
        </p:nvSpPr>
        <p:spPr>
          <a:xfrm>
            <a:off x="187693" y="92328"/>
            <a:ext cx="10663824" cy="65701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32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E5E5C17-69AE-D824-CFDE-93FA10B8CB31}"/>
              </a:ext>
            </a:extLst>
          </p:cNvPr>
          <p:cNvSpPr txBox="1"/>
          <p:nvPr/>
        </p:nvSpPr>
        <p:spPr>
          <a:xfrm>
            <a:off x="354233" y="159224"/>
            <a:ext cx="60922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solidFill>
                  <a:schemeClr val="bg1"/>
                </a:solidFill>
              </a:rPr>
              <a:t>4. </a:t>
            </a:r>
            <a:r>
              <a:rPr lang="ko-KR" altLang="en-US" sz="3200" b="1" dirty="0">
                <a:solidFill>
                  <a:schemeClr val="bg1"/>
                </a:solidFill>
              </a:rPr>
              <a:t>시각화 코드 </a:t>
            </a:r>
            <a:r>
              <a:rPr lang="en-US" altLang="ko-KR" sz="3200" b="1" dirty="0">
                <a:solidFill>
                  <a:schemeClr val="bg1"/>
                </a:solidFill>
              </a:rPr>
              <a:t>-</a:t>
            </a:r>
            <a:r>
              <a:rPr lang="ko-KR" altLang="en-US" sz="3200" b="1" dirty="0">
                <a:solidFill>
                  <a:schemeClr val="bg1"/>
                </a:solidFill>
              </a:rPr>
              <a:t> 빌드 플레이트</a:t>
            </a:r>
          </a:p>
        </p:txBody>
      </p:sp>
      <p:pic>
        <p:nvPicPr>
          <p:cNvPr id="5" name="그림 4" descr="텍스트, 스크린샷, 폰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7E0814AD-83F2-C456-37D2-53007C35672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14341"/>
            <a:ext cx="12192000" cy="4218524"/>
          </a:xfrm>
          <a:prstGeom prst="rect">
            <a:avLst/>
          </a:prstGeom>
        </p:spPr>
      </p:pic>
      <p:sp>
        <p:nvSpPr>
          <p:cNvPr id="7" name="도넛[D] 6">
            <a:extLst>
              <a:ext uri="{FF2B5EF4-FFF2-40B4-BE49-F238E27FC236}">
                <a16:creationId xmlns:a16="http://schemas.microsoft.com/office/drawing/2014/main" id="{53BAF3AC-B1D3-44F6-8B93-6DA9CECB4F59}"/>
              </a:ext>
            </a:extLst>
          </p:cNvPr>
          <p:cNvSpPr/>
          <p:nvPr/>
        </p:nvSpPr>
        <p:spPr>
          <a:xfrm>
            <a:off x="5867401" y="2061029"/>
            <a:ext cx="1158240" cy="584775"/>
          </a:xfrm>
          <a:prstGeom prst="donut">
            <a:avLst>
              <a:gd name="adj" fmla="val 10639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>
              <a:solidFill>
                <a:schemeClr val="tx1"/>
              </a:solidFill>
            </a:endParaRPr>
          </a:p>
        </p:txBody>
      </p:sp>
      <p:sp>
        <p:nvSpPr>
          <p:cNvPr id="8" name="도넛[D] 7">
            <a:extLst>
              <a:ext uri="{FF2B5EF4-FFF2-40B4-BE49-F238E27FC236}">
                <a16:creationId xmlns:a16="http://schemas.microsoft.com/office/drawing/2014/main" id="{04286D86-7AA0-C099-66E7-EC2265C7C04D}"/>
              </a:ext>
            </a:extLst>
          </p:cNvPr>
          <p:cNvSpPr/>
          <p:nvPr/>
        </p:nvSpPr>
        <p:spPr>
          <a:xfrm>
            <a:off x="8119654" y="2089544"/>
            <a:ext cx="1287179" cy="584775"/>
          </a:xfrm>
          <a:prstGeom prst="donut">
            <a:avLst>
              <a:gd name="adj" fmla="val 10639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>
              <a:solidFill>
                <a:schemeClr val="tx1"/>
              </a:solidFill>
            </a:endParaRPr>
          </a:p>
        </p:txBody>
      </p:sp>
      <p:sp>
        <p:nvSpPr>
          <p:cNvPr id="10" name="도넛[D] 9">
            <a:extLst>
              <a:ext uri="{FF2B5EF4-FFF2-40B4-BE49-F238E27FC236}">
                <a16:creationId xmlns:a16="http://schemas.microsoft.com/office/drawing/2014/main" id="{75B12ED7-EE98-9D22-E6C4-3FFEBAEF6571}"/>
              </a:ext>
            </a:extLst>
          </p:cNvPr>
          <p:cNvSpPr/>
          <p:nvPr/>
        </p:nvSpPr>
        <p:spPr>
          <a:xfrm>
            <a:off x="7532371" y="4675052"/>
            <a:ext cx="1874462" cy="460400"/>
          </a:xfrm>
          <a:prstGeom prst="donut">
            <a:avLst>
              <a:gd name="adj" fmla="val 10639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>
              <a:solidFill>
                <a:srgbClr val="FF0000"/>
              </a:solidFill>
            </a:endParaRPr>
          </a:p>
        </p:txBody>
      </p:sp>
      <p:sp>
        <p:nvSpPr>
          <p:cNvPr id="11" name="도넛[D] 10">
            <a:extLst>
              <a:ext uri="{FF2B5EF4-FFF2-40B4-BE49-F238E27FC236}">
                <a16:creationId xmlns:a16="http://schemas.microsoft.com/office/drawing/2014/main" id="{478FB5BA-52A1-3CE7-F855-5A48EA53D8B4}"/>
              </a:ext>
            </a:extLst>
          </p:cNvPr>
          <p:cNvSpPr/>
          <p:nvPr/>
        </p:nvSpPr>
        <p:spPr>
          <a:xfrm>
            <a:off x="7532371" y="4038902"/>
            <a:ext cx="1764029" cy="460400"/>
          </a:xfrm>
          <a:prstGeom prst="donut">
            <a:avLst>
              <a:gd name="adj" fmla="val 10639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>
              <a:solidFill>
                <a:srgbClr val="FF0000"/>
              </a:solidFill>
            </a:endParaRPr>
          </a:p>
        </p:txBody>
      </p:sp>
      <p:sp>
        <p:nvSpPr>
          <p:cNvPr id="12" name="도넛[D] 11">
            <a:extLst>
              <a:ext uri="{FF2B5EF4-FFF2-40B4-BE49-F238E27FC236}">
                <a16:creationId xmlns:a16="http://schemas.microsoft.com/office/drawing/2014/main" id="{D33181E5-EB5C-09B2-6762-1791BF6DD2CB}"/>
              </a:ext>
            </a:extLst>
          </p:cNvPr>
          <p:cNvSpPr/>
          <p:nvPr/>
        </p:nvSpPr>
        <p:spPr>
          <a:xfrm>
            <a:off x="7547611" y="5318331"/>
            <a:ext cx="1874462" cy="496867"/>
          </a:xfrm>
          <a:prstGeom prst="donut">
            <a:avLst>
              <a:gd name="adj" fmla="val 10639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>
              <a:solidFill>
                <a:srgbClr val="FF000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4D80E75-B79D-4125-3087-FB7DE0C8FEAB}"/>
              </a:ext>
            </a:extLst>
          </p:cNvPr>
          <p:cNvSpPr txBox="1"/>
          <p:nvPr/>
        </p:nvSpPr>
        <p:spPr>
          <a:xfrm>
            <a:off x="6446521" y="1134242"/>
            <a:ext cx="5029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2400" dirty="0">
                <a:solidFill>
                  <a:srgbClr val="00B0F0"/>
                </a:solidFill>
              </a:rPr>
              <a:t>1.</a:t>
            </a:r>
            <a:r>
              <a:rPr kumimoji="1" lang="ko-KR" altLang="en-US" sz="2400" dirty="0">
                <a:solidFill>
                  <a:srgbClr val="00B0F0"/>
                </a:solidFill>
              </a:rPr>
              <a:t> 단어 필터링</a:t>
            </a:r>
            <a:endParaRPr kumimoji="1" lang="ko-Kore-KR" altLang="en-US" sz="2400" dirty="0">
              <a:solidFill>
                <a:srgbClr val="00B0F0"/>
              </a:solidFill>
            </a:endParaRPr>
          </a:p>
        </p:txBody>
      </p:sp>
      <p:sp>
        <p:nvSpPr>
          <p:cNvPr id="14" name="왼쪽 중괄호[L] 13">
            <a:extLst>
              <a:ext uri="{FF2B5EF4-FFF2-40B4-BE49-F238E27FC236}">
                <a16:creationId xmlns:a16="http://schemas.microsoft.com/office/drawing/2014/main" id="{BB3FC8CD-F540-D63E-8823-A4C67059E4B0}"/>
              </a:ext>
            </a:extLst>
          </p:cNvPr>
          <p:cNvSpPr/>
          <p:nvPr/>
        </p:nvSpPr>
        <p:spPr>
          <a:xfrm rot="16200000" flipH="1">
            <a:off x="7378674" y="698958"/>
            <a:ext cx="460399" cy="2324702"/>
          </a:xfrm>
          <a:prstGeom prst="leftBrace">
            <a:avLst>
              <a:gd name="adj1" fmla="val 18073"/>
              <a:gd name="adj2" fmla="val 51128"/>
            </a:avLst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AF9E1875-1104-9B60-5945-56D50131BF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7012225"/>
              </p:ext>
            </p:extLst>
          </p:nvPr>
        </p:nvGraphicFramePr>
        <p:xfrm>
          <a:off x="8273168" y="2674319"/>
          <a:ext cx="368437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2185">
                  <a:extLst>
                    <a:ext uri="{9D8B030D-6E8A-4147-A177-3AD203B41FA5}">
                      <a16:colId xmlns:a16="http://schemas.microsoft.com/office/drawing/2014/main" val="1876575029"/>
                    </a:ext>
                  </a:extLst>
                </a:gridCol>
                <a:gridCol w="1842185">
                  <a:extLst>
                    <a:ext uri="{9D8B030D-6E8A-4147-A177-3AD203B41FA5}">
                      <a16:colId xmlns:a16="http://schemas.microsoft.com/office/drawing/2014/main" val="900341281"/>
                    </a:ext>
                  </a:extLst>
                </a:gridCol>
              </a:tblGrid>
              <a:tr h="223121"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b="1" dirty="0">
                          <a:solidFill>
                            <a:schemeClr val="tx1"/>
                          </a:solidFill>
                        </a:rPr>
                        <a:t>Axis 0</a:t>
                      </a:r>
                      <a:endParaRPr lang="ko-Kore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ore-KR" altLang="en-US" b="1" dirty="0">
                          <a:solidFill>
                            <a:schemeClr val="tx1"/>
                          </a:solidFill>
                        </a:rPr>
                        <a:t>빌드</a:t>
                      </a:r>
                      <a:r>
                        <a:rPr lang="ko-KR" altLang="en-US" b="1" dirty="0">
                          <a:solidFill>
                            <a:schemeClr val="tx1"/>
                          </a:solidFill>
                        </a:rPr>
                        <a:t> 플레이트</a:t>
                      </a:r>
                      <a:endParaRPr lang="ko-Kore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5289819"/>
                  </a:ext>
                </a:extLst>
              </a:tr>
              <a:tr h="281456"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b="1" dirty="0">
                          <a:solidFill>
                            <a:schemeClr val="tx1"/>
                          </a:solidFill>
                        </a:rPr>
                        <a:t>Axis 1</a:t>
                      </a:r>
                      <a:endParaRPr lang="ko-Kore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b="1" dirty="0" err="1">
                          <a:solidFill>
                            <a:schemeClr val="tx1"/>
                          </a:solidFill>
                        </a:rPr>
                        <a:t>리코터</a:t>
                      </a:r>
                      <a:endParaRPr lang="ko-Kore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660021"/>
                  </a:ext>
                </a:extLst>
              </a:tr>
              <a:tr h="281456"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b="1" dirty="0">
                          <a:solidFill>
                            <a:schemeClr val="tx1"/>
                          </a:solidFill>
                        </a:rPr>
                        <a:t>Axis 2</a:t>
                      </a:r>
                      <a:endParaRPr lang="ko-Kore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ore-KR" altLang="en-US" b="1" dirty="0">
                          <a:solidFill>
                            <a:schemeClr val="tx1"/>
                          </a:solidFill>
                        </a:rPr>
                        <a:t>레진</a:t>
                      </a:r>
                      <a:r>
                        <a:rPr lang="ko-KR" altLang="en-US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b="1" dirty="0" err="1">
                          <a:solidFill>
                            <a:schemeClr val="tx1"/>
                          </a:solidFill>
                        </a:rPr>
                        <a:t>블럭</a:t>
                      </a:r>
                      <a:endParaRPr lang="ko-Kore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66172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803028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72D896-C808-659D-486C-DFF07DAB68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7FA4EDDC-E91E-140D-9F88-0ACE235D4C38}"/>
              </a:ext>
            </a:extLst>
          </p:cNvPr>
          <p:cNvSpPr/>
          <p:nvPr/>
        </p:nvSpPr>
        <p:spPr>
          <a:xfrm>
            <a:off x="187693" y="92328"/>
            <a:ext cx="10663824" cy="65701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32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B75AB08-B2E3-6AC6-9B5A-409A578B0B47}"/>
              </a:ext>
            </a:extLst>
          </p:cNvPr>
          <p:cNvSpPr txBox="1"/>
          <p:nvPr/>
        </p:nvSpPr>
        <p:spPr>
          <a:xfrm>
            <a:off x="354233" y="159224"/>
            <a:ext cx="60922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solidFill>
                  <a:schemeClr val="bg1"/>
                </a:solidFill>
              </a:rPr>
              <a:t>4. </a:t>
            </a:r>
            <a:r>
              <a:rPr lang="ko-KR" altLang="en-US" sz="3200" b="1" dirty="0">
                <a:solidFill>
                  <a:schemeClr val="bg1"/>
                </a:solidFill>
              </a:rPr>
              <a:t>시각화 코드 </a:t>
            </a:r>
            <a:r>
              <a:rPr lang="en-US" altLang="ko-KR" sz="3200" b="1" dirty="0">
                <a:solidFill>
                  <a:schemeClr val="bg1"/>
                </a:solidFill>
              </a:rPr>
              <a:t>-</a:t>
            </a:r>
            <a:r>
              <a:rPr lang="ko-KR" altLang="en-US" sz="3200" b="1" dirty="0">
                <a:solidFill>
                  <a:schemeClr val="bg1"/>
                </a:solidFill>
              </a:rPr>
              <a:t> </a:t>
            </a:r>
            <a:r>
              <a:rPr lang="ko-KR" altLang="en-US" sz="3200" b="1" dirty="0" err="1">
                <a:solidFill>
                  <a:schemeClr val="bg1"/>
                </a:solidFill>
              </a:rPr>
              <a:t>리코터</a:t>
            </a:r>
            <a:endParaRPr lang="ko-KR" altLang="en-US" sz="3200" b="1" dirty="0">
              <a:solidFill>
                <a:schemeClr val="bg1"/>
              </a:solidFill>
            </a:endParaRPr>
          </a:p>
        </p:txBody>
      </p:sp>
      <p:pic>
        <p:nvPicPr>
          <p:cNvPr id="3" name="그림 2" descr="텍스트, 스크린샷, 폰트, 번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BCAF92ED-9443-20BE-391A-0D4CA92087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38028"/>
            <a:ext cx="12283440" cy="4643105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D7F3FBFA-526B-7339-B940-7775123BF506}"/>
              </a:ext>
            </a:extLst>
          </p:cNvPr>
          <p:cNvSpPr txBox="1"/>
          <p:nvPr/>
        </p:nvSpPr>
        <p:spPr>
          <a:xfrm>
            <a:off x="7036910" y="867791"/>
            <a:ext cx="322483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3200" dirty="0">
                <a:solidFill>
                  <a:srgbClr val="00B0F0"/>
                </a:solidFill>
              </a:rPr>
              <a:t>1.</a:t>
            </a:r>
            <a:r>
              <a:rPr kumimoji="1" lang="ko-KR" altLang="en-US" sz="3200" dirty="0">
                <a:solidFill>
                  <a:srgbClr val="00B0F0"/>
                </a:solidFill>
              </a:rPr>
              <a:t> 단어 필터링</a:t>
            </a:r>
            <a:endParaRPr kumimoji="1" lang="ko-Kore-KR" altLang="en-US" sz="3200" dirty="0">
              <a:solidFill>
                <a:srgbClr val="00B0F0"/>
              </a:solidFill>
            </a:endParaRPr>
          </a:p>
        </p:txBody>
      </p:sp>
      <p:sp>
        <p:nvSpPr>
          <p:cNvPr id="17" name="왼쪽 중괄호[L] 16">
            <a:extLst>
              <a:ext uri="{FF2B5EF4-FFF2-40B4-BE49-F238E27FC236}">
                <a16:creationId xmlns:a16="http://schemas.microsoft.com/office/drawing/2014/main" id="{F7B367FE-6D24-D7EB-4168-FBE867FBF1D8}"/>
              </a:ext>
            </a:extLst>
          </p:cNvPr>
          <p:cNvSpPr/>
          <p:nvPr/>
        </p:nvSpPr>
        <p:spPr>
          <a:xfrm rot="16200000" flipH="1">
            <a:off x="8380859" y="289921"/>
            <a:ext cx="207752" cy="2562120"/>
          </a:xfrm>
          <a:prstGeom prst="leftBrace">
            <a:avLst>
              <a:gd name="adj1" fmla="val 18073"/>
              <a:gd name="adj2" fmla="val 51128"/>
            </a:avLst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18" name="도넛[D] 17">
            <a:extLst>
              <a:ext uri="{FF2B5EF4-FFF2-40B4-BE49-F238E27FC236}">
                <a16:creationId xmlns:a16="http://schemas.microsoft.com/office/drawing/2014/main" id="{56BBB8DE-FB76-2872-FDBB-F99DABD5E546}"/>
              </a:ext>
            </a:extLst>
          </p:cNvPr>
          <p:cNvSpPr/>
          <p:nvPr/>
        </p:nvSpPr>
        <p:spPr>
          <a:xfrm>
            <a:off x="6506938" y="1674856"/>
            <a:ext cx="1393477" cy="518931"/>
          </a:xfrm>
          <a:prstGeom prst="donut">
            <a:avLst>
              <a:gd name="adj" fmla="val 10639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>
              <a:solidFill>
                <a:schemeClr val="tx1"/>
              </a:solidFill>
            </a:endParaRPr>
          </a:p>
        </p:txBody>
      </p:sp>
      <p:sp>
        <p:nvSpPr>
          <p:cNvPr id="19" name="도넛[D] 18">
            <a:extLst>
              <a:ext uri="{FF2B5EF4-FFF2-40B4-BE49-F238E27FC236}">
                <a16:creationId xmlns:a16="http://schemas.microsoft.com/office/drawing/2014/main" id="{A159BB2A-8BBF-9C6F-4890-84993B4E49BA}"/>
              </a:ext>
            </a:extLst>
          </p:cNvPr>
          <p:cNvSpPr/>
          <p:nvPr/>
        </p:nvSpPr>
        <p:spPr>
          <a:xfrm>
            <a:off x="9028476" y="1693890"/>
            <a:ext cx="1596852" cy="518930"/>
          </a:xfrm>
          <a:prstGeom prst="donut">
            <a:avLst>
              <a:gd name="adj" fmla="val 10639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>
              <a:solidFill>
                <a:schemeClr val="tx1"/>
              </a:solidFill>
            </a:endParaRPr>
          </a:p>
        </p:txBody>
      </p:sp>
      <p:sp>
        <p:nvSpPr>
          <p:cNvPr id="20" name="도넛[D] 19">
            <a:extLst>
              <a:ext uri="{FF2B5EF4-FFF2-40B4-BE49-F238E27FC236}">
                <a16:creationId xmlns:a16="http://schemas.microsoft.com/office/drawing/2014/main" id="{B41BA0AE-49B2-9D5A-723B-8553E2EF1905}"/>
              </a:ext>
            </a:extLst>
          </p:cNvPr>
          <p:cNvSpPr/>
          <p:nvPr/>
        </p:nvSpPr>
        <p:spPr>
          <a:xfrm>
            <a:off x="9175880" y="4330708"/>
            <a:ext cx="3016120" cy="460400"/>
          </a:xfrm>
          <a:prstGeom prst="donut">
            <a:avLst>
              <a:gd name="adj" fmla="val 10639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>
              <a:solidFill>
                <a:srgbClr val="FF0000"/>
              </a:solidFill>
            </a:endParaRPr>
          </a:p>
        </p:txBody>
      </p:sp>
      <p:sp>
        <p:nvSpPr>
          <p:cNvPr id="21" name="도넛[D] 20">
            <a:extLst>
              <a:ext uri="{FF2B5EF4-FFF2-40B4-BE49-F238E27FC236}">
                <a16:creationId xmlns:a16="http://schemas.microsoft.com/office/drawing/2014/main" id="{308C6177-ECF9-01A8-EC58-5F3D65CE0D3D}"/>
              </a:ext>
            </a:extLst>
          </p:cNvPr>
          <p:cNvSpPr/>
          <p:nvPr/>
        </p:nvSpPr>
        <p:spPr>
          <a:xfrm>
            <a:off x="9160640" y="3856022"/>
            <a:ext cx="1889702" cy="460400"/>
          </a:xfrm>
          <a:prstGeom prst="donut">
            <a:avLst>
              <a:gd name="adj" fmla="val 10639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>
              <a:solidFill>
                <a:srgbClr val="FF0000"/>
              </a:solidFill>
            </a:endParaRPr>
          </a:p>
        </p:txBody>
      </p:sp>
      <p:sp>
        <p:nvSpPr>
          <p:cNvPr id="22" name="도넛[D] 21">
            <a:extLst>
              <a:ext uri="{FF2B5EF4-FFF2-40B4-BE49-F238E27FC236}">
                <a16:creationId xmlns:a16="http://schemas.microsoft.com/office/drawing/2014/main" id="{2842D743-A001-6A1C-D040-F08D25F7208E}"/>
              </a:ext>
            </a:extLst>
          </p:cNvPr>
          <p:cNvSpPr/>
          <p:nvPr/>
        </p:nvSpPr>
        <p:spPr>
          <a:xfrm>
            <a:off x="9287936" y="5059973"/>
            <a:ext cx="2727279" cy="496867"/>
          </a:xfrm>
          <a:prstGeom prst="donut">
            <a:avLst>
              <a:gd name="adj" fmla="val 10639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>
              <a:solidFill>
                <a:srgbClr val="FF0000"/>
              </a:solidFill>
            </a:endParaRP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8EA82108-E3D6-6C1C-6D35-25EC0CD4D9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941229"/>
              </p:ext>
            </p:extLst>
          </p:nvPr>
        </p:nvGraphicFramePr>
        <p:xfrm>
          <a:off x="7789236" y="2480701"/>
          <a:ext cx="4075332" cy="110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7666">
                  <a:extLst>
                    <a:ext uri="{9D8B030D-6E8A-4147-A177-3AD203B41FA5}">
                      <a16:colId xmlns:a16="http://schemas.microsoft.com/office/drawing/2014/main" val="1876575029"/>
                    </a:ext>
                  </a:extLst>
                </a:gridCol>
                <a:gridCol w="2037666">
                  <a:extLst>
                    <a:ext uri="{9D8B030D-6E8A-4147-A177-3AD203B41FA5}">
                      <a16:colId xmlns:a16="http://schemas.microsoft.com/office/drawing/2014/main" val="900341281"/>
                    </a:ext>
                  </a:extLst>
                </a:gridCol>
              </a:tblGrid>
              <a:tr h="363996"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b="1" dirty="0">
                          <a:solidFill>
                            <a:schemeClr val="tx1"/>
                          </a:solidFill>
                        </a:rPr>
                        <a:t>Axis 0</a:t>
                      </a:r>
                      <a:endParaRPr lang="ko-Kore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ore-KR" altLang="en-US" b="1" dirty="0">
                          <a:solidFill>
                            <a:schemeClr val="tx1"/>
                          </a:solidFill>
                        </a:rPr>
                        <a:t>빌드</a:t>
                      </a:r>
                      <a:r>
                        <a:rPr lang="ko-KR" altLang="en-US" b="1" dirty="0">
                          <a:solidFill>
                            <a:schemeClr val="tx1"/>
                          </a:solidFill>
                        </a:rPr>
                        <a:t> 플레이트</a:t>
                      </a:r>
                      <a:endParaRPr lang="ko-Kore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52898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b="1" dirty="0">
                          <a:solidFill>
                            <a:schemeClr val="tx1"/>
                          </a:solidFill>
                        </a:rPr>
                        <a:t>Axis 1</a:t>
                      </a:r>
                      <a:endParaRPr lang="ko-Kore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b="1" dirty="0" err="1">
                          <a:solidFill>
                            <a:schemeClr val="tx1"/>
                          </a:solidFill>
                        </a:rPr>
                        <a:t>리코터</a:t>
                      </a:r>
                      <a:endParaRPr lang="ko-Kore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6600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b="1" dirty="0">
                          <a:solidFill>
                            <a:schemeClr val="tx1"/>
                          </a:solidFill>
                        </a:rPr>
                        <a:t>Axis 2</a:t>
                      </a:r>
                      <a:endParaRPr lang="ko-Kore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ore-KR" altLang="en-US" b="1" dirty="0">
                          <a:solidFill>
                            <a:schemeClr val="tx1"/>
                          </a:solidFill>
                        </a:rPr>
                        <a:t>레진</a:t>
                      </a:r>
                      <a:r>
                        <a:rPr lang="ko-KR" altLang="en-US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b="1" dirty="0" err="1">
                          <a:solidFill>
                            <a:schemeClr val="tx1"/>
                          </a:solidFill>
                        </a:rPr>
                        <a:t>블럭</a:t>
                      </a:r>
                      <a:endParaRPr lang="ko-Kore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66172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812608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1D3D37-FDA6-E6DF-4A9A-A570654497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4405190B-5E9E-C067-AA88-B3C4E02B4D67}"/>
              </a:ext>
            </a:extLst>
          </p:cNvPr>
          <p:cNvSpPr/>
          <p:nvPr/>
        </p:nvSpPr>
        <p:spPr>
          <a:xfrm>
            <a:off x="187693" y="92328"/>
            <a:ext cx="10663824" cy="65701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32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B5527CB-F458-DE73-D09C-31EE2AC54B2A}"/>
              </a:ext>
            </a:extLst>
          </p:cNvPr>
          <p:cNvSpPr txBox="1"/>
          <p:nvPr/>
        </p:nvSpPr>
        <p:spPr>
          <a:xfrm>
            <a:off x="354232" y="159224"/>
            <a:ext cx="78639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solidFill>
                  <a:schemeClr val="bg1"/>
                </a:solidFill>
              </a:rPr>
              <a:t>4. </a:t>
            </a:r>
            <a:r>
              <a:rPr lang="ko-KR" altLang="en-US" sz="3200" b="1" dirty="0">
                <a:solidFill>
                  <a:schemeClr val="bg1"/>
                </a:solidFill>
              </a:rPr>
              <a:t>시각화 코드 </a:t>
            </a:r>
            <a:r>
              <a:rPr lang="en-US" altLang="ko-KR" sz="3200" b="1" dirty="0">
                <a:solidFill>
                  <a:schemeClr val="bg1"/>
                </a:solidFill>
              </a:rPr>
              <a:t>–</a:t>
            </a:r>
            <a:r>
              <a:rPr lang="ko-KR" altLang="en-US" sz="3200" b="1" dirty="0">
                <a:solidFill>
                  <a:schemeClr val="bg1"/>
                </a:solidFill>
              </a:rPr>
              <a:t> 레진 </a:t>
            </a:r>
            <a:r>
              <a:rPr lang="ko-KR" altLang="en-US" sz="3200" b="1" dirty="0" err="1">
                <a:solidFill>
                  <a:schemeClr val="bg1"/>
                </a:solidFill>
              </a:rPr>
              <a:t>블럭</a:t>
            </a:r>
            <a:r>
              <a:rPr lang="en-US" altLang="ko-KR" sz="3200" b="1" dirty="0">
                <a:solidFill>
                  <a:schemeClr val="bg1"/>
                </a:solidFill>
              </a:rPr>
              <a:t>,</a:t>
            </a:r>
            <a:r>
              <a:rPr lang="ko-KR" altLang="en-US" sz="3200" b="1" dirty="0">
                <a:solidFill>
                  <a:schemeClr val="bg1"/>
                </a:solidFill>
              </a:rPr>
              <a:t> 레진 수위</a:t>
            </a:r>
          </a:p>
        </p:txBody>
      </p:sp>
      <p:sp>
        <p:nvSpPr>
          <p:cNvPr id="10" name="도넛[D] 9">
            <a:extLst>
              <a:ext uri="{FF2B5EF4-FFF2-40B4-BE49-F238E27FC236}">
                <a16:creationId xmlns:a16="http://schemas.microsoft.com/office/drawing/2014/main" id="{EF04CECB-895C-AF81-3961-1D633CDC907D}"/>
              </a:ext>
            </a:extLst>
          </p:cNvPr>
          <p:cNvSpPr/>
          <p:nvPr/>
        </p:nvSpPr>
        <p:spPr>
          <a:xfrm>
            <a:off x="7532371" y="4675052"/>
            <a:ext cx="1874462" cy="460400"/>
          </a:xfrm>
          <a:prstGeom prst="donut">
            <a:avLst>
              <a:gd name="adj" fmla="val 10639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>
              <a:solidFill>
                <a:srgbClr val="FF0000"/>
              </a:solidFill>
            </a:endParaRPr>
          </a:p>
        </p:txBody>
      </p:sp>
      <p:sp>
        <p:nvSpPr>
          <p:cNvPr id="11" name="도넛[D] 10">
            <a:extLst>
              <a:ext uri="{FF2B5EF4-FFF2-40B4-BE49-F238E27FC236}">
                <a16:creationId xmlns:a16="http://schemas.microsoft.com/office/drawing/2014/main" id="{282EE2C3-41D2-25F8-DA8E-5499A63EB15E}"/>
              </a:ext>
            </a:extLst>
          </p:cNvPr>
          <p:cNvSpPr/>
          <p:nvPr/>
        </p:nvSpPr>
        <p:spPr>
          <a:xfrm>
            <a:off x="7532371" y="4038902"/>
            <a:ext cx="1764029" cy="460400"/>
          </a:xfrm>
          <a:prstGeom prst="donut">
            <a:avLst>
              <a:gd name="adj" fmla="val 10639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>
              <a:solidFill>
                <a:srgbClr val="FF0000"/>
              </a:solidFill>
            </a:endParaRPr>
          </a:p>
        </p:txBody>
      </p:sp>
      <p:sp>
        <p:nvSpPr>
          <p:cNvPr id="12" name="도넛[D] 11">
            <a:extLst>
              <a:ext uri="{FF2B5EF4-FFF2-40B4-BE49-F238E27FC236}">
                <a16:creationId xmlns:a16="http://schemas.microsoft.com/office/drawing/2014/main" id="{B05D9166-8472-2453-2B5C-39B96827BC85}"/>
              </a:ext>
            </a:extLst>
          </p:cNvPr>
          <p:cNvSpPr/>
          <p:nvPr/>
        </p:nvSpPr>
        <p:spPr>
          <a:xfrm>
            <a:off x="7547611" y="5318331"/>
            <a:ext cx="1874462" cy="496867"/>
          </a:xfrm>
          <a:prstGeom prst="donut">
            <a:avLst>
              <a:gd name="adj" fmla="val 10639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>
              <a:solidFill>
                <a:srgbClr val="FF0000"/>
              </a:solidFill>
            </a:endParaRPr>
          </a:p>
        </p:txBody>
      </p:sp>
      <p:pic>
        <p:nvPicPr>
          <p:cNvPr id="3" name="그림 2" descr="텍스트, 스크린샷, 폰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9115CF62-E65E-7AF4-D1CD-D6062866ED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3586" y="1621896"/>
            <a:ext cx="12355747" cy="4235774"/>
          </a:xfrm>
          <a:prstGeom prst="rect">
            <a:avLst/>
          </a:prstGeom>
        </p:spPr>
      </p:pic>
      <p:sp>
        <p:nvSpPr>
          <p:cNvPr id="4" name="도넛[D] 3">
            <a:extLst>
              <a:ext uri="{FF2B5EF4-FFF2-40B4-BE49-F238E27FC236}">
                <a16:creationId xmlns:a16="http://schemas.microsoft.com/office/drawing/2014/main" id="{43051462-F5E6-0BA6-1AF4-313537EAF25A}"/>
              </a:ext>
            </a:extLst>
          </p:cNvPr>
          <p:cNvSpPr/>
          <p:nvPr/>
        </p:nvSpPr>
        <p:spPr>
          <a:xfrm>
            <a:off x="7374499" y="3786243"/>
            <a:ext cx="2692568" cy="460400"/>
          </a:xfrm>
          <a:prstGeom prst="donut">
            <a:avLst>
              <a:gd name="adj" fmla="val 10639"/>
            </a:avLst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>
              <a:ln>
                <a:solidFill>
                  <a:srgbClr val="FFFF00"/>
                </a:solidFill>
              </a:ln>
              <a:solidFill>
                <a:srgbClr val="FF0000"/>
              </a:solidFill>
            </a:endParaRPr>
          </a:p>
        </p:txBody>
      </p:sp>
      <p:sp>
        <p:nvSpPr>
          <p:cNvPr id="9" name="도넛[D] 8">
            <a:extLst>
              <a:ext uri="{FF2B5EF4-FFF2-40B4-BE49-F238E27FC236}">
                <a16:creationId xmlns:a16="http://schemas.microsoft.com/office/drawing/2014/main" id="{FF5F817D-4773-C0ED-4E38-B706261794BD}"/>
              </a:ext>
            </a:extLst>
          </p:cNvPr>
          <p:cNvSpPr/>
          <p:nvPr/>
        </p:nvSpPr>
        <p:spPr>
          <a:xfrm>
            <a:off x="4816943" y="3829254"/>
            <a:ext cx="2692568" cy="426854"/>
          </a:xfrm>
          <a:prstGeom prst="donut">
            <a:avLst>
              <a:gd name="adj" fmla="val 10639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>
              <a:solidFill>
                <a:srgbClr val="FF0000"/>
              </a:solidFill>
            </a:endParaRPr>
          </a:p>
        </p:txBody>
      </p:sp>
      <p:sp>
        <p:nvSpPr>
          <p:cNvPr id="15" name="도넛[D] 14">
            <a:extLst>
              <a:ext uri="{FF2B5EF4-FFF2-40B4-BE49-F238E27FC236}">
                <a16:creationId xmlns:a16="http://schemas.microsoft.com/office/drawing/2014/main" id="{E9D78A57-607F-D395-2E89-28DC67139FC4}"/>
              </a:ext>
            </a:extLst>
          </p:cNvPr>
          <p:cNvSpPr/>
          <p:nvPr/>
        </p:nvSpPr>
        <p:spPr>
          <a:xfrm>
            <a:off x="10089927" y="3764582"/>
            <a:ext cx="2124933" cy="524305"/>
          </a:xfrm>
          <a:prstGeom prst="donut">
            <a:avLst>
              <a:gd name="adj" fmla="val 10639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dirty="0">
              <a:solidFill>
                <a:srgbClr val="FF0000"/>
              </a:solidFill>
              <a:highlight>
                <a:srgbClr val="0000FF"/>
              </a:highlight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E2BD5F2-08D5-03AA-2C69-85435F6317FF}"/>
              </a:ext>
            </a:extLst>
          </p:cNvPr>
          <p:cNvSpPr txBox="1"/>
          <p:nvPr/>
        </p:nvSpPr>
        <p:spPr>
          <a:xfrm>
            <a:off x="5093260" y="3028746"/>
            <a:ext cx="5029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ore-KR" sz="2400" dirty="0">
                <a:solidFill>
                  <a:srgbClr val="FF0000"/>
                </a:solidFill>
              </a:rPr>
              <a:t>Resin Block</a:t>
            </a:r>
            <a:endParaRPr kumimoji="1" lang="ko-Kore-KR" altLang="en-US" sz="2400" dirty="0">
              <a:solidFill>
                <a:srgbClr val="FF0000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0EA59F2-7863-762A-F6DA-A3EAE83E7760}"/>
              </a:ext>
            </a:extLst>
          </p:cNvPr>
          <p:cNvSpPr txBox="1"/>
          <p:nvPr/>
        </p:nvSpPr>
        <p:spPr>
          <a:xfrm>
            <a:off x="7262961" y="3284389"/>
            <a:ext cx="5029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ore-KR" sz="2400" dirty="0">
                <a:solidFill>
                  <a:srgbClr val="00B050"/>
                </a:solidFill>
              </a:rPr>
              <a:t>Current Resin Level</a:t>
            </a:r>
            <a:endParaRPr kumimoji="1" lang="ko-Kore-KR" altLang="en-US" sz="2400" dirty="0">
              <a:solidFill>
                <a:srgbClr val="00B050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D81BF56-EC6E-BA67-1FC2-794BC0E3904D}"/>
              </a:ext>
            </a:extLst>
          </p:cNvPr>
          <p:cNvSpPr txBox="1"/>
          <p:nvPr/>
        </p:nvSpPr>
        <p:spPr>
          <a:xfrm>
            <a:off x="10122460" y="3240901"/>
            <a:ext cx="5029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ore-KR" sz="2400" dirty="0"/>
              <a:t>Target level</a:t>
            </a:r>
            <a:endParaRPr kumimoji="1" lang="ko-Kore-KR" altLang="en-US" sz="2400" dirty="0"/>
          </a:p>
        </p:txBody>
      </p:sp>
      <p:sp>
        <p:nvSpPr>
          <p:cNvPr id="7" name="도넛[D] 6">
            <a:extLst>
              <a:ext uri="{FF2B5EF4-FFF2-40B4-BE49-F238E27FC236}">
                <a16:creationId xmlns:a16="http://schemas.microsoft.com/office/drawing/2014/main" id="{87FB219F-FF1A-0523-43F4-DC4D132B3A9F}"/>
              </a:ext>
            </a:extLst>
          </p:cNvPr>
          <p:cNvSpPr/>
          <p:nvPr/>
        </p:nvSpPr>
        <p:spPr>
          <a:xfrm>
            <a:off x="4839803" y="1804159"/>
            <a:ext cx="928536" cy="584775"/>
          </a:xfrm>
          <a:prstGeom prst="donut">
            <a:avLst>
              <a:gd name="adj" fmla="val 10639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>
              <a:solidFill>
                <a:schemeClr val="tx1"/>
              </a:solidFill>
            </a:endParaRPr>
          </a:p>
        </p:txBody>
      </p:sp>
      <p:sp>
        <p:nvSpPr>
          <p:cNvPr id="8" name="도넛[D] 7">
            <a:extLst>
              <a:ext uri="{FF2B5EF4-FFF2-40B4-BE49-F238E27FC236}">
                <a16:creationId xmlns:a16="http://schemas.microsoft.com/office/drawing/2014/main" id="{19A5504F-F492-602E-E66A-B2C583715BC7}"/>
              </a:ext>
            </a:extLst>
          </p:cNvPr>
          <p:cNvSpPr/>
          <p:nvPr/>
        </p:nvSpPr>
        <p:spPr>
          <a:xfrm>
            <a:off x="6665110" y="1838450"/>
            <a:ext cx="867262" cy="460400"/>
          </a:xfrm>
          <a:prstGeom prst="donut">
            <a:avLst>
              <a:gd name="adj" fmla="val 10639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>
              <a:solidFill>
                <a:schemeClr val="tx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C1A0649-D1E1-707A-CCA7-6F3E1354A8E2}"/>
              </a:ext>
            </a:extLst>
          </p:cNvPr>
          <p:cNvSpPr txBox="1"/>
          <p:nvPr/>
        </p:nvSpPr>
        <p:spPr>
          <a:xfrm>
            <a:off x="5189220" y="1020222"/>
            <a:ext cx="5029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2400" dirty="0">
                <a:solidFill>
                  <a:srgbClr val="00B0F0"/>
                </a:solidFill>
              </a:rPr>
              <a:t>1.</a:t>
            </a:r>
            <a:r>
              <a:rPr kumimoji="1" lang="ko-KR" altLang="en-US" sz="2400" dirty="0">
                <a:solidFill>
                  <a:srgbClr val="00B0F0"/>
                </a:solidFill>
              </a:rPr>
              <a:t> 단어 필터링</a:t>
            </a:r>
            <a:endParaRPr kumimoji="1" lang="ko-Kore-KR" altLang="en-US" sz="2400" dirty="0">
              <a:solidFill>
                <a:srgbClr val="00B0F0"/>
              </a:solidFill>
            </a:endParaRPr>
          </a:p>
        </p:txBody>
      </p:sp>
      <p:sp>
        <p:nvSpPr>
          <p:cNvPr id="14" name="왼쪽 중괄호[L] 13">
            <a:extLst>
              <a:ext uri="{FF2B5EF4-FFF2-40B4-BE49-F238E27FC236}">
                <a16:creationId xmlns:a16="http://schemas.microsoft.com/office/drawing/2014/main" id="{537BACA7-5E31-BC99-C898-7CF8E094FE52}"/>
              </a:ext>
            </a:extLst>
          </p:cNvPr>
          <p:cNvSpPr/>
          <p:nvPr/>
        </p:nvSpPr>
        <p:spPr>
          <a:xfrm rot="16200000" flipH="1">
            <a:off x="6001584" y="685502"/>
            <a:ext cx="341236" cy="1965963"/>
          </a:xfrm>
          <a:prstGeom prst="leftBrace">
            <a:avLst>
              <a:gd name="adj1" fmla="val 18073"/>
              <a:gd name="adj2" fmla="val 51128"/>
            </a:avLst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CFF6D77D-A88B-8DF8-FBB2-3CB2D1D74C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6322714"/>
              </p:ext>
            </p:extLst>
          </p:nvPr>
        </p:nvGraphicFramePr>
        <p:xfrm>
          <a:off x="8029401" y="2169213"/>
          <a:ext cx="4075332" cy="110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7666">
                  <a:extLst>
                    <a:ext uri="{9D8B030D-6E8A-4147-A177-3AD203B41FA5}">
                      <a16:colId xmlns:a16="http://schemas.microsoft.com/office/drawing/2014/main" val="1876575029"/>
                    </a:ext>
                  </a:extLst>
                </a:gridCol>
                <a:gridCol w="2037666">
                  <a:extLst>
                    <a:ext uri="{9D8B030D-6E8A-4147-A177-3AD203B41FA5}">
                      <a16:colId xmlns:a16="http://schemas.microsoft.com/office/drawing/2014/main" val="900341281"/>
                    </a:ext>
                  </a:extLst>
                </a:gridCol>
              </a:tblGrid>
              <a:tr h="363996"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b="1" dirty="0">
                          <a:solidFill>
                            <a:schemeClr val="tx1"/>
                          </a:solidFill>
                        </a:rPr>
                        <a:t>Axis 0</a:t>
                      </a:r>
                      <a:endParaRPr lang="ko-Kore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ore-KR" altLang="en-US" b="1" dirty="0">
                          <a:solidFill>
                            <a:schemeClr val="tx1"/>
                          </a:solidFill>
                        </a:rPr>
                        <a:t>빌드</a:t>
                      </a:r>
                      <a:r>
                        <a:rPr lang="ko-KR" altLang="en-US" b="1" dirty="0">
                          <a:solidFill>
                            <a:schemeClr val="tx1"/>
                          </a:solidFill>
                        </a:rPr>
                        <a:t> 플레이트</a:t>
                      </a:r>
                      <a:endParaRPr lang="ko-Kore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52898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b="1" dirty="0">
                          <a:solidFill>
                            <a:schemeClr val="tx1"/>
                          </a:solidFill>
                        </a:rPr>
                        <a:t>Axis 1</a:t>
                      </a:r>
                      <a:endParaRPr lang="ko-Kore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b="1" dirty="0" err="1">
                          <a:solidFill>
                            <a:schemeClr val="tx1"/>
                          </a:solidFill>
                        </a:rPr>
                        <a:t>리코터</a:t>
                      </a:r>
                      <a:endParaRPr lang="ko-Kore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6600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b="1" dirty="0">
                          <a:solidFill>
                            <a:schemeClr val="tx1"/>
                          </a:solidFill>
                        </a:rPr>
                        <a:t>Axis 2</a:t>
                      </a:r>
                      <a:endParaRPr lang="ko-Kore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ore-KR" altLang="en-US" b="1" dirty="0">
                          <a:solidFill>
                            <a:schemeClr val="tx1"/>
                          </a:solidFill>
                        </a:rPr>
                        <a:t>레진</a:t>
                      </a:r>
                      <a:r>
                        <a:rPr lang="ko-KR" altLang="en-US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b="1" dirty="0" err="1">
                          <a:solidFill>
                            <a:schemeClr val="tx1"/>
                          </a:solidFill>
                        </a:rPr>
                        <a:t>블럭</a:t>
                      </a:r>
                      <a:endParaRPr lang="ko-Kore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66172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014410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4" grpId="0" animBg="1"/>
      <p:bldP spid="9" grpId="0" animBg="1"/>
      <p:bldP spid="1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D57A05-5416-FC02-A9C3-1B858A5839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C1A359D9-9D5A-5EBB-9C82-4A9D552B454B}"/>
              </a:ext>
            </a:extLst>
          </p:cNvPr>
          <p:cNvSpPr/>
          <p:nvPr/>
        </p:nvSpPr>
        <p:spPr>
          <a:xfrm>
            <a:off x="187693" y="92328"/>
            <a:ext cx="10663824" cy="65701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32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75BDD17-E07E-61EC-9A89-E319995192EA}"/>
              </a:ext>
            </a:extLst>
          </p:cNvPr>
          <p:cNvSpPr txBox="1"/>
          <p:nvPr/>
        </p:nvSpPr>
        <p:spPr>
          <a:xfrm>
            <a:off x="354233" y="159224"/>
            <a:ext cx="60922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solidFill>
                  <a:schemeClr val="bg1"/>
                </a:solidFill>
              </a:rPr>
              <a:t>4. </a:t>
            </a:r>
            <a:r>
              <a:rPr lang="ko-KR" altLang="en-US" sz="3200" b="1" dirty="0">
                <a:solidFill>
                  <a:schemeClr val="bg1"/>
                </a:solidFill>
              </a:rPr>
              <a:t>시각화 코드 </a:t>
            </a:r>
          </a:p>
        </p:txBody>
      </p:sp>
      <p:pic>
        <p:nvPicPr>
          <p:cNvPr id="4" name="그림 3" descr="텍스트, 스크린샷, 폰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862BBB5C-BA85-0477-F0D2-85E1BA7D98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04" y="906961"/>
            <a:ext cx="8660823" cy="5966658"/>
          </a:xfrm>
          <a:prstGeom prst="rect">
            <a:avLst/>
          </a:prstGeom>
        </p:spPr>
      </p:pic>
      <p:cxnSp>
        <p:nvCxnSpPr>
          <p:cNvPr id="5" name="직선 화살표 연결선 4">
            <a:extLst>
              <a:ext uri="{FF2B5EF4-FFF2-40B4-BE49-F238E27FC236}">
                <a16:creationId xmlns:a16="http://schemas.microsoft.com/office/drawing/2014/main" id="{CCE4A3C5-59F2-22B1-C323-9E21843E0450}"/>
              </a:ext>
            </a:extLst>
          </p:cNvPr>
          <p:cNvCxnSpPr>
            <a:cxnSpLocks/>
          </p:cNvCxnSpPr>
          <p:nvPr/>
        </p:nvCxnSpPr>
        <p:spPr>
          <a:xfrm>
            <a:off x="8164760" y="3643531"/>
            <a:ext cx="957468" cy="0"/>
          </a:xfrm>
          <a:prstGeom prst="straightConnector1">
            <a:avLst/>
          </a:prstGeom>
          <a:ln w="381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6B47B31C-6BFB-0CFA-A075-F95323F206FE}"/>
              </a:ext>
            </a:extLst>
          </p:cNvPr>
          <p:cNvSpPr txBox="1"/>
          <p:nvPr/>
        </p:nvSpPr>
        <p:spPr>
          <a:xfrm>
            <a:off x="9143687" y="3443476"/>
            <a:ext cx="5029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ore-KR" sz="2000" dirty="0">
                <a:solidFill>
                  <a:srgbClr val="00B0F0"/>
                </a:solidFill>
              </a:rPr>
              <a:t>2</a:t>
            </a:r>
            <a:r>
              <a:rPr kumimoji="1" lang="en-US" altLang="ko-KR" sz="2000" dirty="0">
                <a:solidFill>
                  <a:srgbClr val="00B0F0"/>
                </a:solidFill>
              </a:rPr>
              <a:t>.</a:t>
            </a:r>
            <a:r>
              <a:rPr kumimoji="1" lang="ko-KR" altLang="en-US" sz="2000" dirty="0">
                <a:solidFill>
                  <a:srgbClr val="00B0F0"/>
                </a:solidFill>
              </a:rPr>
              <a:t> </a:t>
            </a:r>
            <a:r>
              <a:rPr kumimoji="1" lang="ko-Kore-KR" altLang="en-US" sz="2000" dirty="0">
                <a:solidFill>
                  <a:srgbClr val="00B0F0"/>
                </a:solidFill>
              </a:rPr>
              <a:t>시간</a:t>
            </a:r>
            <a:r>
              <a:rPr kumimoji="1" lang="ko-KR" altLang="en-US" sz="2000" dirty="0">
                <a:solidFill>
                  <a:srgbClr val="00B0F0"/>
                </a:solidFill>
              </a:rPr>
              <a:t> 추출</a:t>
            </a:r>
            <a:endParaRPr kumimoji="1" lang="ko-Kore-KR" altLang="en-US" sz="2000" dirty="0">
              <a:solidFill>
                <a:srgbClr val="00B0F0"/>
              </a:solidFill>
            </a:endParaRPr>
          </a:p>
        </p:txBody>
      </p:sp>
      <p:sp>
        <p:nvSpPr>
          <p:cNvPr id="8" name="왼쪽 중괄호[L] 7">
            <a:extLst>
              <a:ext uri="{FF2B5EF4-FFF2-40B4-BE49-F238E27FC236}">
                <a16:creationId xmlns:a16="http://schemas.microsoft.com/office/drawing/2014/main" id="{C507EE2C-17FE-1FB2-3006-D3CDCC1AEDF0}"/>
              </a:ext>
            </a:extLst>
          </p:cNvPr>
          <p:cNvSpPr/>
          <p:nvPr/>
        </p:nvSpPr>
        <p:spPr>
          <a:xfrm flipH="1">
            <a:off x="5913121" y="4093265"/>
            <a:ext cx="533400" cy="1194352"/>
          </a:xfrm>
          <a:prstGeom prst="leftBrace">
            <a:avLst>
              <a:gd name="adj1" fmla="val 18073"/>
              <a:gd name="adj2" fmla="val 51128"/>
            </a:avLst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3F0044A-0D70-6BF5-5FA5-FCD7901C7FE4}"/>
              </a:ext>
            </a:extLst>
          </p:cNvPr>
          <p:cNvSpPr txBox="1"/>
          <p:nvPr/>
        </p:nvSpPr>
        <p:spPr>
          <a:xfrm>
            <a:off x="6446521" y="4367275"/>
            <a:ext cx="92419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dirty="0">
                <a:solidFill>
                  <a:srgbClr val="00B0F0"/>
                </a:solidFill>
              </a:rPr>
              <a:t>3.</a:t>
            </a:r>
            <a:r>
              <a:rPr kumimoji="1" lang="ko-KR" altLang="en-US" dirty="0">
                <a:solidFill>
                  <a:srgbClr val="00B0F0"/>
                </a:solidFill>
              </a:rPr>
              <a:t> </a:t>
            </a:r>
            <a:r>
              <a:rPr kumimoji="1" lang="en-US" altLang="ko-Kore-KR" dirty="0">
                <a:solidFill>
                  <a:srgbClr val="00B0F0"/>
                </a:solidFill>
              </a:rPr>
              <a:t>Abs Pos</a:t>
            </a:r>
            <a:r>
              <a:rPr kumimoji="1" lang="ko-KR" altLang="en-US" dirty="0">
                <a:solidFill>
                  <a:srgbClr val="00B0F0"/>
                </a:solidFill>
              </a:rPr>
              <a:t>의 </a:t>
            </a:r>
            <a:r>
              <a:rPr kumimoji="1" lang="en-US" altLang="ko-KR" dirty="0">
                <a:solidFill>
                  <a:srgbClr val="00B0F0"/>
                </a:solidFill>
              </a:rPr>
              <a:t>pos</a:t>
            </a:r>
            <a:r>
              <a:rPr kumimoji="1" lang="ko-KR" altLang="en-US" dirty="0">
                <a:solidFill>
                  <a:srgbClr val="00B0F0"/>
                </a:solidFill>
              </a:rPr>
              <a:t>값 추출</a:t>
            </a:r>
            <a:r>
              <a:rPr kumimoji="1" lang="en-US" altLang="ko-KR" dirty="0">
                <a:solidFill>
                  <a:srgbClr val="00B0F0"/>
                </a:solidFill>
              </a:rPr>
              <a:t>,</a:t>
            </a:r>
          </a:p>
          <a:p>
            <a:r>
              <a:rPr kumimoji="1" lang="ko-KR" altLang="en-US" dirty="0">
                <a:solidFill>
                  <a:srgbClr val="00B0F0"/>
                </a:solidFill>
              </a:rPr>
              <a:t>만약 </a:t>
            </a:r>
            <a:r>
              <a:rPr kumimoji="1" lang="en-US" altLang="ko-KR" dirty="0">
                <a:solidFill>
                  <a:srgbClr val="00B0F0"/>
                </a:solidFill>
              </a:rPr>
              <a:t>‘Go Origin’</a:t>
            </a:r>
            <a:r>
              <a:rPr kumimoji="1" lang="ko-KR" altLang="en-US" dirty="0">
                <a:solidFill>
                  <a:srgbClr val="00B0F0"/>
                </a:solidFill>
              </a:rPr>
              <a:t> 이라는 단어가 있으면 </a:t>
            </a:r>
            <a:r>
              <a:rPr kumimoji="1" lang="en-US" altLang="ko-KR" dirty="0">
                <a:solidFill>
                  <a:srgbClr val="00B0F0"/>
                </a:solidFill>
              </a:rPr>
              <a:t>pos</a:t>
            </a:r>
            <a:r>
              <a:rPr kumimoji="1" lang="ko-KR" altLang="en-US" dirty="0">
                <a:solidFill>
                  <a:srgbClr val="00B0F0"/>
                </a:solidFill>
              </a:rPr>
              <a:t>값</a:t>
            </a:r>
            <a:r>
              <a:rPr kumimoji="1" lang="en-US" altLang="ko-KR" dirty="0">
                <a:solidFill>
                  <a:srgbClr val="00B0F0"/>
                </a:solidFill>
              </a:rPr>
              <a:t>==0</a:t>
            </a:r>
            <a:endParaRPr kumimoji="1" lang="ko-Kore-KR" altLang="en-US" dirty="0">
              <a:solidFill>
                <a:srgbClr val="00B0F0"/>
              </a:solidFill>
            </a:endParaRPr>
          </a:p>
        </p:txBody>
      </p:sp>
      <p:cxnSp>
        <p:nvCxnSpPr>
          <p:cNvPr id="10" name="구부러진 연결선[U] 9">
            <a:extLst>
              <a:ext uri="{FF2B5EF4-FFF2-40B4-BE49-F238E27FC236}">
                <a16:creationId xmlns:a16="http://schemas.microsoft.com/office/drawing/2014/main" id="{BB917FED-F6F1-2159-136E-0B0DF11709A9}"/>
              </a:ext>
            </a:extLst>
          </p:cNvPr>
          <p:cNvCxnSpPr>
            <a:cxnSpLocks/>
          </p:cNvCxnSpPr>
          <p:nvPr/>
        </p:nvCxnSpPr>
        <p:spPr>
          <a:xfrm rot="10800000">
            <a:off x="1934818" y="1258957"/>
            <a:ext cx="4997651" cy="4692084"/>
          </a:xfrm>
          <a:prstGeom prst="curvedConnector3">
            <a:avLst>
              <a:gd name="adj1" fmla="val -86827"/>
            </a:avLst>
          </a:prstGeom>
          <a:ln w="381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5506580A-03CE-B42A-97DF-F74345C900E7}"/>
              </a:ext>
            </a:extLst>
          </p:cNvPr>
          <p:cNvSpPr txBox="1"/>
          <p:nvPr/>
        </p:nvSpPr>
        <p:spPr>
          <a:xfrm>
            <a:off x="6446521" y="966119"/>
            <a:ext cx="831747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2000" dirty="0">
                <a:solidFill>
                  <a:srgbClr val="00B0F0"/>
                </a:solidFill>
              </a:rPr>
              <a:t>4.</a:t>
            </a:r>
            <a:r>
              <a:rPr kumimoji="1" lang="ko-KR" altLang="en-US" sz="2000" dirty="0">
                <a:solidFill>
                  <a:srgbClr val="00B0F0"/>
                </a:solidFill>
              </a:rPr>
              <a:t> 시간</a:t>
            </a:r>
            <a:r>
              <a:rPr kumimoji="1" lang="en-US" altLang="ko-KR" sz="2000" dirty="0">
                <a:solidFill>
                  <a:srgbClr val="00B0F0"/>
                </a:solidFill>
              </a:rPr>
              <a:t>,</a:t>
            </a:r>
            <a:r>
              <a:rPr kumimoji="1" lang="ko-KR" altLang="en-US" sz="2000" dirty="0">
                <a:solidFill>
                  <a:srgbClr val="00B0F0"/>
                </a:solidFill>
              </a:rPr>
              <a:t> 위치 쌍 모으기</a:t>
            </a:r>
            <a:r>
              <a:rPr kumimoji="1" lang="en-US" altLang="ko-Kore-KR" sz="2000" dirty="0">
                <a:solidFill>
                  <a:srgbClr val="00B0F0"/>
                </a:solidFill>
              </a:rPr>
              <a:t>,</a:t>
            </a:r>
          </a:p>
          <a:p>
            <a:r>
              <a:rPr kumimoji="1" lang="en-US" altLang="ko-Kore-KR" sz="2000" dirty="0">
                <a:solidFill>
                  <a:srgbClr val="00B0F0"/>
                </a:solidFill>
              </a:rPr>
              <a:t>5.</a:t>
            </a:r>
            <a:r>
              <a:rPr kumimoji="1" lang="ko-Kore-KR" altLang="en-US" sz="2000" dirty="0">
                <a:solidFill>
                  <a:srgbClr val="00B0F0"/>
                </a:solidFill>
              </a:rPr>
              <a:t> 시간</a:t>
            </a:r>
            <a:r>
              <a:rPr kumimoji="1" lang="ko-KR" altLang="en-US" sz="2000" dirty="0">
                <a:solidFill>
                  <a:srgbClr val="00B0F0"/>
                </a:solidFill>
              </a:rPr>
              <a:t>은 </a:t>
            </a:r>
            <a:r>
              <a:rPr kumimoji="1" lang="en-US" altLang="ko-KR" sz="2000" dirty="0">
                <a:solidFill>
                  <a:srgbClr val="00B0F0"/>
                </a:solidFill>
              </a:rPr>
              <a:t>y</a:t>
            </a:r>
            <a:r>
              <a:rPr kumimoji="1" lang="ko-KR" altLang="en-US" sz="2000" dirty="0">
                <a:solidFill>
                  <a:srgbClr val="00B0F0"/>
                </a:solidFill>
              </a:rPr>
              <a:t>축</a:t>
            </a:r>
            <a:r>
              <a:rPr kumimoji="1" lang="en-US" altLang="ko-KR" sz="2000" dirty="0">
                <a:solidFill>
                  <a:srgbClr val="00B0F0"/>
                </a:solidFill>
              </a:rPr>
              <a:t>,</a:t>
            </a:r>
            <a:r>
              <a:rPr kumimoji="1" lang="ko-KR" altLang="en-US" sz="2000" dirty="0">
                <a:solidFill>
                  <a:srgbClr val="00B0F0"/>
                </a:solidFill>
              </a:rPr>
              <a:t> 위치는 </a:t>
            </a:r>
            <a:r>
              <a:rPr kumimoji="1" lang="en-US" altLang="ko-KR" sz="2000" dirty="0">
                <a:solidFill>
                  <a:srgbClr val="00B0F0"/>
                </a:solidFill>
              </a:rPr>
              <a:t>x</a:t>
            </a:r>
            <a:r>
              <a:rPr kumimoji="1" lang="ko-KR" altLang="en-US" sz="2000" dirty="0">
                <a:solidFill>
                  <a:srgbClr val="00B0F0"/>
                </a:solidFill>
              </a:rPr>
              <a:t>축으로 그래프 시각화</a:t>
            </a:r>
            <a:endParaRPr kumimoji="1" lang="en-US" altLang="ko-KR" sz="200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42253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 animBg="1"/>
      <p:bldP spid="9" grpId="0"/>
      <p:bldP spid="1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1E057F-8233-8324-766C-E10BD9937A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9E58A563-5EF9-7C6D-7686-D931E492C616}"/>
              </a:ext>
            </a:extLst>
          </p:cNvPr>
          <p:cNvSpPr/>
          <p:nvPr/>
        </p:nvSpPr>
        <p:spPr>
          <a:xfrm>
            <a:off x="187693" y="92328"/>
            <a:ext cx="10663824" cy="65701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32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F29A967-1BA9-21B9-3178-0967208446D8}"/>
              </a:ext>
            </a:extLst>
          </p:cNvPr>
          <p:cNvSpPr txBox="1"/>
          <p:nvPr/>
        </p:nvSpPr>
        <p:spPr>
          <a:xfrm>
            <a:off x="354232" y="159224"/>
            <a:ext cx="78639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solidFill>
                  <a:schemeClr val="bg1"/>
                </a:solidFill>
              </a:rPr>
              <a:t>5. </a:t>
            </a:r>
            <a:r>
              <a:rPr lang="ko-KR" altLang="en-US" sz="3200" b="1" dirty="0">
                <a:solidFill>
                  <a:schemeClr val="bg1"/>
                </a:solidFill>
              </a:rPr>
              <a:t>실제 로그 시각화 해보기 </a:t>
            </a: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56C574BC-F877-770F-35EC-C8D54D05E8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1768507"/>
              </p:ext>
            </p:extLst>
          </p:nvPr>
        </p:nvGraphicFramePr>
        <p:xfrm>
          <a:off x="553803" y="1437449"/>
          <a:ext cx="11084394" cy="4293651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3694798">
                  <a:extLst>
                    <a:ext uri="{9D8B030D-6E8A-4147-A177-3AD203B41FA5}">
                      <a16:colId xmlns:a16="http://schemas.microsoft.com/office/drawing/2014/main" val="1835533462"/>
                    </a:ext>
                  </a:extLst>
                </a:gridCol>
                <a:gridCol w="3694798">
                  <a:extLst>
                    <a:ext uri="{9D8B030D-6E8A-4147-A177-3AD203B41FA5}">
                      <a16:colId xmlns:a16="http://schemas.microsoft.com/office/drawing/2014/main" val="4285043051"/>
                    </a:ext>
                  </a:extLst>
                </a:gridCol>
                <a:gridCol w="3694798">
                  <a:extLst>
                    <a:ext uri="{9D8B030D-6E8A-4147-A177-3AD203B41FA5}">
                      <a16:colId xmlns:a16="http://schemas.microsoft.com/office/drawing/2014/main" val="3639954340"/>
                    </a:ext>
                  </a:extLst>
                </a:gridCol>
              </a:tblGrid>
              <a:tr h="1431217">
                <a:tc>
                  <a:txBody>
                    <a:bodyPr/>
                    <a:lstStyle/>
                    <a:p>
                      <a:pPr algn="ctr"/>
                      <a:r>
                        <a:rPr lang="ko-Kore-KR" altLang="en-US" sz="440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데이터</a:t>
                      </a:r>
                      <a:r>
                        <a:rPr lang="ko-KR" altLang="en-US" sz="440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이름</a:t>
                      </a:r>
                      <a:endParaRPr lang="ko-Kore-KR" altLang="en-US" sz="440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ore-KR" altLang="en-US" sz="440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총</a:t>
                      </a:r>
                      <a:r>
                        <a:rPr lang="ko-KR" altLang="en-US" sz="440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ko-Kore-KR" altLang="en-US" sz="440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공정</a:t>
                      </a:r>
                      <a:r>
                        <a:rPr lang="ko-KR" altLang="en-US" sz="440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시간</a:t>
                      </a:r>
                      <a:endParaRPr lang="ko-Kore-KR" altLang="en-US" sz="440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ore-KR" altLang="en-US" sz="440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총</a:t>
                      </a:r>
                      <a:r>
                        <a:rPr lang="ko-KR" altLang="en-US" sz="440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ko-Kore-KR" altLang="en-US" sz="440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레이어</a:t>
                      </a:r>
                      <a:r>
                        <a:rPr lang="ko-KR" altLang="en-US" sz="440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수</a:t>
                      </a:r>
                      <a:endParaRPr lang="ko-Kore-KR" altLang="en-US" sz="440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11666"/>
                  </a:ext>
                </a:extLst>
              </a:tr>
              <a:tr h="1431217"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440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r>
                        <a:rPr lang="en-US" altLang="ko-KR" sz="440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57</a:t>
                      </a:r>
                      <a:endParaRPr lang="ko-Kore-KR" altLang="en-US" sz="440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ore-KR" sz="440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r>
                        <a:rPr lang="en-US" altLang="ko-KR" sz="440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3</a:t>
                      </a:r>
                      <a:r>
                        <a:rPr lang="ko-KR" altLang="en-US" sz="440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시간 </a:t>
                      </a:r>
                      <a:r>
                        <a:rPr lang="en-US" altLang="ko-KR" sz="440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47</a:t>
                      </a:r>
                      <a:r>
                        <a:rPr lang="ko-KR" altLang="en-US" sz="440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분</a:t>
                      </a:r>
                      <a:endParaRPr lang="ko-Kore-KR" altLang="en-US" sz="440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440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1059</a:t>
                      </a:r>
                      <a:endParaRPr lang="ko-Kore-KR" altLang="en-US" sz="440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0213220"/>
                  </a:ext>
                </a:extLst>
              </a:tr>
              <a:tr h="1431217"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440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r>
                        <a:rPr lang="en-US" altLang="ko-KR" sz="440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63</a:t>
                      </a:r>
                      <a:endParaRPr lang="ko-Kore-KR" altLang="en-US" sz="440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440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</a:t>
                      </a:r>
                      <a:r>
                        <a:rPr lang="ko-KR" altLang="en-US" sz="440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시간 </a:t>
                      </a:r>
                      <a:r>
                        <a:rPr lang="en-US" altLang="ko-KR" sz="440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21</a:t>
                      </a:r>
                      <a:r>
                        <a:rPr lang="ko-KR" altLang="en-US" sz="440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분</a:t>
                      </a:r>
                      <a:endParaRPr lang="ko-Kore-KR" altLang="en-US" sz="440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440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359</a:t>
                      </a:r>
                      <a:endParaRPr lang="ko-Kore-KR" altLang="en-US" sz="440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42843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588746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2CEB84-70FD-16F7-5B6A-6A3CE522A7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BFA3FFB7-CD71-B165-8404-54E4B9DAF1C7}"/>
              </a:ext>
            </a:extLst>
          </p:cNvPr>
          <p:cNvSpPr/>
          <p:nvPr/>
        </p:nvSpPr>
        <p:spPr>
          <a:xfrm>
            <a:off x="187693" y="92328"/>
            <a:ext cx="10663824" cy="65701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32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662DFB9-AF42-3589-39DF-DB0011A4966D}"/>
              </a:ext>
            </a:extLst>
          </p:cNvPr>
          <p:cNvSpPr txBox="1"/>
          <p:nvPr/>
        </p:nvSpPr>
        <p:spPr>
          <a:xfrm>
            <a:off x="354232" y="159224"/>
            <a:ext cx="83897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solidFill>
                  <a:schemeClr val="bg1"/>
                </a:solidFill>
              </a:rPr>
              <a:t>6. </a:t>
            </a:r>
            <a:r>
              <a:rPr lang="ko-KR" altLang="en-US" sz="3200" b="1" dirty="0">
                <a:solidFill>
                  <a:schemeClr val="bg1"/>
                </a:solidFill>
              </a:rPr>
              <a:t>실제 로그 시각화 해보기 </a:t>
            </a:r>
            <a:r>
              <a:rPr lang="en-US" altLang="ko-KR" sz="3200" b="1" dirty="0">
                <a:solidFill>
                  <a:schemeClr val="bg1"/>
                </a:solidFill>
              </a:rPr>
              <a:t>–</a:t>
            </a:r>
            <a:r>
              <a:rPr lang="ko-KR" altLang="en-US" sz="3200" b="1" dirty="0">
                <a:solidFill>
                  <a:schemeClr val="bg1"/>
                </a:solidFill>
              </a:rPr>
              <a:t> 빌드 플레이트 </a:t>
            </a:r>
          </a:p>
        </p:txBody>
      </p:sp>
      <p:pic>
        <p:nvPicPr>
          <p:cNvPr id="3" name="그림 2" descr="라인, 그래프, 도표, 영수증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93C5563C-D933-5ECA-E074-77F18DBFF41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699" y="897147"/>
            <a:ext cx="12271724" cy="3536829"/>
          </a:xfrm>
          <a:prstGeom prst="rect">
            <a:avLst/>
          </a:prstGeom>
        </p:spPr>
      </p:pic>
      <p:pic>
        <p:nvPicPr>
          <p:cNvPr id="4" name="그림 3" descr="라인, 그래프, 도표, 경사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96E47F32-6271-F698-5F58-651DEC211A3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699" y="4042273"/>
            <a:ext cx="12271724" cy="2901833"/>
          </a:xfrm>
          <a:prstGeom prst="rect">
            <a:avLst/>
          </a:prstGeom>
        </p:spPr>
      </p:pic>
      <p:sp>
        <p:nvSpPr>
          <p:cNvPr id="7" name="왼쪽 중괄호[L] 6">
            <a:extLst>
              <a:ext uri="{FF2B5EF4-FFF2-40B4-BE49-F238E27FC236}">
                <a16:creationId xmlns:a16="http://schemas.microsoft.com/office/drawing/2014/main" id="{E0546456-00CD-4C09-0F5A-4103E737E6F7}"/>
              </a:ext>
            </a:extLst>
          </p:cNvPr>
          <p:cNvSpPr/>
          <p:nvPr/>
        </p:nvSpPr>
        <p:spPr>
          <a:xfrm rot="16200000" flipH="1">
            <a:off x="1340651" y="2199200"/>
            <a:ext cx="298118" cy="541020"/>
          </a:xfrm>
          <a:prstGeom prst="leftBrace">
            <a:avLst>
              <a:gd name="adj1" fmla="val 30318"/>
              <a:gd name="adj2" fmla="val 51128"/>
            </a:avLst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5F4B75A-44DA-E2E2-126B-B9451D5EF7D0}"/>
              </a:ext>
            </a:extLst>
          </p:cNvPr>
          <p:cNvSpPr txBox="1"/>
          <p:nvPr/>
        </p:nvSpPr>
        <p:spPr>
          <a:xfrm>
            <a:off x="648789" y="1785083"/>
            <a:ext cx="92419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sz="2400" dirty="0">
                <a:solidFill>
                  <a:srgbClr val="FF0000"/>
                </a:solidFill>
              </a:rPr>
              <a:t>서포터 생성 부분</a:t>
            </a:r>
            <a:endParaRPr kumimoji="1" lang="ko-Kore-KR" altLang="en-US" sz="2400" dirty="0">
              <a:solidFill>
                <a:srgbClr val="FF0000"/>
              </a:solidFill>
            </a:endParaRPr>
          </a:p>
        </p:txBody>
      </p:sp>
      <p:sp>
        <p:nvSpPr>
          <p:cNvPr id="9" name="왼쪽 중괄호[L] 8">
            <a:extLst>
              <a:ext uri="{FF2B5EF4-FFF2-40B4-BE49-F238E27FC236}">
                <a16:creationId xmlns:a16="http://schemas.microsoft.com/office/drawing/2014/main" id="{324D911F-726B-4BD5-1E83-161B2BE3EBF7}"/>
              </a:ext>
            </a:extLst>
          </p:cNvPr>
          <p:cNvSpPr/>
          <p:nvPr/>
        </p:nvSpPr>
        <p:spPr>
          <a:xfrm rot="16200000" flipH="1">
            <a:off x="2015490" y="3652928"/>
            <a:ext cx="381001" cy="2034539"/>
          </a:xfrm>
          <a:prstGeom prst="leftBrace">
            <a:avLst>
              <a:gd name="adj1" fmla="val 30318"/>
              <a:gd name="adj2" fmla="val 51128"/>
            </a:avLst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1865653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DD1F9B-010C-23D0-44CE-CAD8408B7E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0914B24D-CA40-83FF-625E-3BA31F41092F}"/>
              </a:ext>
            </a:extLst>
          </p:cNvPr>
          <p:cNvSpPr/>
          <p:nvPr/>
        </p:nvSpPr>
        <p:spPr>
          <a:xfrm>
            <a:off x="187693" y="92328"/>
            <a:ext cx="10663824" cy="65701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32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B07BA77-952B-5A23-F78E-F78C6F401D39}"/>
              </a:ext>
            </a:extLst>
          </p:cNvPr>
          <p:cNvSpPr txBox="1"/>
          <p:nvPr/>
        </p:nvSpPr>
        <p:spPr>
          <a:xfrm>
            <a:off x="354232" y="159224"/>
            <a:ext cx="83897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solidFill>
                  <a:schemeClr val="bg1"/>
                </a:solidFill>
              </a:rPr>
              <a:t>6. </a:t>
            </a:r>
            <a:r>
              <a:rPr lang="ko-KR" altLang="en-US" sz="3200" b="1" dirty="0">
                <a:solidFill>
                  <a:schemeClr val="bg1"/>
                </a:solidFill>
              </a:rPr>
              <a:t>실제 로그 시각화 해보기 </a:t>
            </a:r>
            <a:r>
              <a:rPr lang="en-US" altLang="ko-KR" sz="3200" b="1" dirty="0">
                <a:solidFill>
                  <a:schemeClr val="bg1"/>
                </a:solidFill>
              </a:rPr>
              <a:t>–</a:t>
            </a:r>
            <a:r>
              <a:rPr lang="ko-KR" altLang="en-US" sz="3200" b="1" dirty="0">
                <a:solidFill>
                  <a:schemeClr val="bg1"/>
                </a:solidFill>
              </a:rPr>
              <a:t> </a:t>
            </a:r>
            <a:r>
              <a:rPr lang="ko-KR" altLang="en-US" sz="3200" b="1" dirty="0" err="1">
                <a:solidFill>
                  <a:schemeClr val="bg1"/>
                </a:solidFill>
              </a:rPr>
              <a:t>리코터</a:t>
            </a:r>
            <a:r>
              <a:rPr lang="ko-KR" altLang="en-US" sz="3200" b="1" dirty="0">
                <a:solidFill>
                  <a:schemeClr val="bg1"/>
                </a:solidFill>
              </a:rPr>
              <a:t> 위치</a:t>
            </a:r>
          </a:p>
        </p:txBody>
      </p:sp>
      <p:sp>
        <p:nvSpPr>
          <p:cNvPr id="7" name="왼쪽 중괄호[L] 6">
            <a:extLst>
              <a:ext uri="{FF2B5EF4-FFF2-40B4-BE49-F238E27FC236}">
                <a16:creationId xmlns:a16="http://schemas.microsoft.com/office/drawing/2014/main" id="{CD5541E4-3495-AAF9-7FC8-3DB94B6829E6}"/>
              </a:ext>
            </a:extLst>
          </p:cNvPr>
          <p:cNvSpPr/>
          <p:nvPr/>
        </p:nvSpPr>
        <p:spPr>
          <a:xfrm rot="16200000" flipH="1">
            <a:off x="1340651" y="2199200"/>
            <a:ext cx="298118" cy="541020"/>
          </a:xfrm>
          <a:prstGeom prst="leftBrace">
            <a:avLst>
              <a:gd name="adj1" fmla="val 30318"/>
              <a:gd name="adj2" fmla="val 51128"/>
            </a:avLst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pic>
        <p:nvPicPr>
          <p:cNvPr id="5" name="그림 4" descr="스크린샷, 그래프, 라인, 텍스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2EB9F2B7-C060-E7C2-CEAF-2A16F7A76A4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15" y="901615"/>
            <a:ext cx="12164786" cy="3094097"/>
          </a:xfrm>
          <a:prstGeom prst="rect">
            <a:avLst/>
          </a:prstGeom>
        </p:spPr>
      </p:pic>
      <p:pic>
        <p:nvPicPr>
          <p:cNvPr id="10" name="그림 9" descr="라인, 그래프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C10A9A6E-7C73-46D3-0FEF-194ED732D38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1564" y="3654588"/>
            <a:ext cx="12233564" cy="3198818"/>
          </a:xfrm>
          <a:prstGeom prst="rect">
            <a:avLst/>
          </a:prstGeom>
        </p:spPr>
      </p:pic>
      <p:sp>
        <p:nvSpPr>
          <p:cNvPr id="11" name="왼쪽 중괄호[L] 10">
            <a:extLst>
              <a:ext uri="{FF2B5EF4-FFF2-40B4-BE49-F238E27FC236}">
                <a16:creationId xmlns:a16="http://schemas.microsoft.com/office/drawing/2014/main" id="{2EC8AE22-71C7-86B3-B6C6-60A5574DD627}"/>
              </a:ext>
            </a:extLst>
          </p:cNvPr>
          <p:cNvSpPr/>
          <p:nvPr/>
        </p:nvSpPr>
        <p:spPr>
          <a:xfrm rot="16200000" flipH="1">
            <a:off x="1136360" y="3691968"/>
            <a:ext cx="169342" cy="308459"/>
          </a:xfrm>
          <a:prstGeom prst="leftBrace">
            <a:avLst>
              <a:gd name="adj1" fmla="val 30318"/>
              <a:gd name="adj2" fmla="val 51128"/>
            </a:avLst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549F038-38CE-D4C8-EE89-0CFB6531724B}"/>
              </a:ext>
            </a:extLst>
          </p:cNvPr>
          <p:cNvSpPr txBox="1"/>
          <p:nvPr/>
        </p:nvSpPr>
        <p:spPr>
          <a:xfrm>
            <a:off x="449327" y="3367960"/>
            <a:ext cx="92419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sz="2400" dirty="0">
                <a:solidFill>
                  <a:srgbClr val="FF0000"/>
                </a:solidFill>
              </a:rPr>
              <a:t>기포 제거</a:t>
            </a:r>
            <a:endParaRPr kumimoji="1" lang="ko-Kore-KR" altLang="en-US" sz="2400" dirty="0">
              <a:solidFill>
                <a:srgbClr val="FF0000"/>
              </a:solidFill>
            </a:endParaRPr>
          </a:p>
        </p:txBody>
      </p:sp>
      <p:sp>
        <p:nvSpPr>
          <p:cNvPr id="9" name="왼쪽 중괄호[L] 8">
            <a:extLst>
              <a:ext uri="{FF2B5EF4-FFF2-40B4-BE49-F238E27FC236}">
                <a16:creationId xmlns:a16="http://schemas.microsoft.com/office/drawing/2014/main" id="{69A47CA2-D154-72E3-20EA-47AEDC5FB348}"/>
              </a:ext>
            </a:extLst>
          </p:cNvPr>
          <p:cNvSpPr/>
          <p:nvPr/>
        </p:nvSpPr>
        <p:spPr>
          <a:xfrm rot="16200000" flipH="1">
            <a:off x="1169749" y="877288"/>
            <a:ext cx="197658" cy="403555"/>
          </a:xfrm>
          <a:prstGeom prst="leftBrace">
            <a:avLst>
              <a:gd name="adj1" fmla="val 30318"/>
              <a:gd name="adj2" fmla="val 51128"/>
            </a:avLst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7905838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FFEAD8-1C34-EA4E-4DF5-F3486FBA3B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1F177540-67D8-8F3C-466C-6BD602F42672}"/>
              </a:ext>
            </a:extLst>
          </p:cNvPr>
          <p:cNvSpPr/>
          <p:nvPr/>
        </p:nvSpPr>
        <p:spPr>
          <a:xfrm>
            <a:off x="187693" y="92328"/>
            <a:ext cx="10663824" cy="65701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32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0C8F5CD-66D1-7FEC-B1A5-C0D19D787411}"/>
              </a:ext>
            </a:extLst>
          </p:cNvPr>
          <p:cNvSpPr txBox="1"/>
          <p:nvPr/>
        </p:nvSpPr>
        <p:spPr>
          <a:xfrm>
            <a:off x="354232" y="159224"/>
            <a:ext cx="83897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solidFill>
                  <a:schemeClr val="bg1"/>
                </a:solidFill>
              </a:rPr>
              <a:t>6. </a:t>
            </a:r>
            <a:r>
              <a:rPr lang="ko-KR" altLang="en-US" sz="3200" b="1" dirty="0">
                <a:solidFill>
                  <a:schemeClr val="bg1"/>
                </a:solidFill>
              </a:rPr>
              <a:t>실제 로그 시각화 해보기 </a:t>
            </a:r>
            <a:r>
              <a:rPr lang="en-US" altLang="ko-KR" sz="3200" b="1" dirty="0">
                <a:solidFill>
                  <a:schemeClr val="bg1"/>
                </a:solidFill>
              </a:rPr>
              <a:t>–</a:t>
            </a:r>
            <a:r>
              <a:rPr lang="ko-KR" altLang="en-US" sz="3200" b="1" dirty="0">
                <a:solidFill>
                  <a:schemeClr val="bg1"/>
                </a:solidFill>
              </a:rPr>
              <a:t> 레진 </a:t>
            </a:r>
            <a:r>
              <a:rPr lang="ko-KR" altLang="en-US" sz="3200" b="1" dirty="0" err="1">
                <a:solidFill>
                  <a:schemeClr val="bg1"/>
                </a:solidFill>
              </a:rPr>
              <a:t>블럭</a:t>
            </a:r>
            <a:r>
              <a:rPr lang="ko-KR" altLang="en-US" sz="3200" b="1" dirty="0">
                <a:solidFill>
                  <a:schemeClr val="bg1"/>
                </a:solidFill>
              </a:rPr>
              <a:t> 위치</a:t>
            </a:r>
          </a:p>
        </p:txBody>
      </p:sp>
      <p:pic>
        <p:nvPicPr>
          <p:cNvPr id="3" name="그림 2" descr="라인, 그래프, 도표, 경사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864FC03E-BE40-0411-7C52-749C75FD55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54" y="919843"/>
            <a:ext cx="12121950" cy="3276600"/>
          </a:xfrm>
          <a:prstGeom prst="rect">
            <a:avLst/>
          </a:prstGeom>
        </p:spPr>
      </p:pic>
      <p:pic>
        <p:nvPicPr>
          <p:cNvPr id="4" name="그림 3" descr="라인, 그래프, 도표, 경사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8933AB8C-E374-91F6-5276-D36B24CA808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907969"/>
            <a:ext cx="12192000" cy="3137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08697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567399-6234-4B2B-E648-175443600F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1F2C1669-BCD8-BA51-7CDF-DD15A1143047}"/>
              </a:ext>
            </a:extLst>
          </p:cNvPr>
          <p:cNvSpPr/>
          <p:nvPr/>
        </p:nvSpPr>
        <p:spPr>
          <a:xfrm>
            <a:off x="187693" y="92328"/>
            <a:ext cx="10663824" cy="65701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32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17690B2-CE48-BF22-9E8A-0CD69113C80B}"/>
              </a:ext>
            </a:extLst>
          </p:cNvPr>
          <p:cNvSpPr txBox="1"/>
          <p:nvPr/>
        </p:nvSpPr>
        <p:spPr>
          <a:xfrm>
            <a:off x="354231" y="159224"/>
            <a:ext cx="1066382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solidFill>
                  <a:schemeClr val="bg1"/>
                </a:solidFill>
              </a:rPr>
              <a:t>6. </a:t>
            </a:r>
            <a:r>
              <a:rPr lang="ko-KR" altLang="en-US" sz="3200" b="1" dirty="0">
                <a:solidFill>
                  <a:schemeClr val="bg1"/>
                </a:solidFill>
              </a:rPr>
              <a:t>실제 로그 시각화 해보기 </a:t>
            </a:r>
            <a:r>
              <a:rPr lang="en-US" altLang="ko-KR" sz="3200" b="1" dirty="0">
                <a:solidFill>
                  <a:schemeClr val="bg1"/>
                </a:solidFill>
              </a:rPr>
              <a:t>–</a:t>
            </a:r>
            <a:r>
              <a:rPr lang="ko-KR" altLang="en-US" sz="3200" b="1" dirty="0">
                <a:solidFill>
                  <a:schemeClr val="bg1"/>
                </a:solidFill>
              </a:rPr>
              <a:t> 레진 레벨</a:t>
            </a:r>
            <a:r>
              <a:rPr lang="en-US" altLang="ko-KR" sz="3200" b="1" dirty="0">
                <a:solidFill>
                  <a:schemeClr val="bg1"/>
                </a:solidFill>
              </a:rPr>
              <a:t>,</a:t>
            </a:r>
            <a:r>
              <a:rPr lang="ko-KR" altLang="en-US" sz="3200" b="1" dirty="0">
                <a:solidFill>
                  <a:schemeClr val="bg1"/>
                </a:solidFill>
              </a:rPr>
              <a:t> 타겟 레진 레벨 </a:t>
            </a:r>
          </a:p>
        </p:txBody>
      </p:sp>
      <p:pic>
        <p:nvPicPr>
          <p:cNvPr id="5" name="그림 4" descr="라인, 그래프, 스크린샷, 텍스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CF615173-B4D8-2D5F-FA1B-EC9C7B9F09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08029"/>
            <a:ext cx="12192000" cy="3538205"/>
          </a:xfrm>
          <a:prstGeom prst="rect">
            <a:avLst/>
          </a:prstGeom>
        </p:spPr>
      </p:pic>
      <p:pic>
        <p:nvPicPr>
          <p:cNvPr id="7" name="그림 6" descr="라인, 그래프, 텍스트, 스크린샷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1AD2CCDB-B8A7-EB57-7EA0-8FD01E540B6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42657"/>
            <a:ext cx="12192000" cy="3367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92699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F991F3-89CA-9C33-3F04-C7CAE6287D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58B236D-635D-CD70-A045-6920BB214566}"/>
              </a:ext>
            </a:extLst>
          </p:cNvPr>
          <p:cNvSpPr txBox="1"/>
          <p:nvPr/>
        </p:nvSpPr>
        <p:spPr>
          <a:xfrm>
            <a:off x="1121791" y="2498178"/>
            <a:ext cx="963419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400" b="1" dirty="0">
                <a:solidFill>
                  <a:srgbClr val="FFFFFF"/>
                </a:solidFill>
              </a:rPr>
              <a:t>감사합니다</a:t>
            </a:r>
            <a:r>
              <a:rPr lang="en-US" altLang="ko-KR" sz="4400" b="1" dirty="0">
                <a:solidFill>
                  <a:srgbClr val="FFFFFF"/>
                </a:solidFill>
              </a:rPr>
              <a:t>.</a:t>
            </a:r>
            <a:endParaRPr lang="ko-KR" altLang="en-US" sz="4400" b="1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31509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4040</TotalTime>
  <Words>544</Words>
  <Application>Microsoft Macintosh PowerPoint</Application>
  <PresentationFormat>와이드스크린</PresentationFormat>
  <Paragraphs>106</Paragraphs>
  <Slides>15</Slides>
  <Notes>14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19" baseType="lpstr">
      <vt:lpstr>맑은 고딕</vt:lpstr>
      <vt:lpstr>NanumGothic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권용주</dc:creator>
  <cp:lastModifiedBy>이경림</cp:lastModifiedBy>
  <cp:revision>138</cp:revision>
  <dcterms:created xsi:type="dcterms:W3CDTF">2021-07-20T03:08:34Z</dcterms:created>
  <dcterms:modified xsi:type="dcterms:W3CDTF">2025-05-13T08:24:44Z</dcterms:modified>
</cp:coreProperties>
</file>