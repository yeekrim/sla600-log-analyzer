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7"/>
  </p:notesMasterIdLst>
  <p:sldIdLst>
    <p:sldId id="256" r:id="rId2"/>
    <p:sldId id="264" r:id="rId3"/>
    <p:sldId id="267" r:id="rId4"/>
    <p:sldId id="268" r:id="rId5"/>
    <p:sldId id="269" r:id="rId6"/>
    <p:sldId id="271" r:id="rId7"/>
    <p:sldId id="270" r:id="rId8"/>
    <p:sldId id="273" r:id="rId9"/>
    <p:sldId id="265" r:id="rId10"/>
    <p:sldId id="266" r:id="rId11"/>
    <p:sldId id="274" r:id="rId12"/>
    <p:sldId id="257" r:id="rId13"/>
    <p:sldId id="258" r:id="rId14"/>
    <p:sldId id="259" r:id="rId15"/>
    <p:sldId id="26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3901"/>
  </p:normalViewPr>
  <p:slideViewPr>
    <p:cSldViewPr snapToGrid="0">
      <p:cViewPr varScale="1">
        <p:scale>
          <a:sx n="108" d="100"/>
          <a:sy n="108" d="100"/>
        </p:scale>
        <p:origin x="23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7AFE22-279C-4A1B-8CC2-044A48317466}" type="datetimeFigureOut">
              <a:rPr lang="ko-KR" altLang="en-US" smtClean="0"/>
              <a:t>2026. 8. 29.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41F91-C7C1-4A00-A0FC-A91CC17F6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93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41F91-C7C1-4A00-A0FC-A91CC17F6A8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961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ore-KR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ore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AA4A-0D37-4197-91EE-99F302D3FCDB}" type="datetimeFigureOut">
              <a:rPr lang="ko-KR" altLang="en-US" smtClean="0"/>
              <a:t>2026. 8. 29.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C0370-C703-4449-8B3A-5EF8716EC67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344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AA4A-0D37-4197-91EE-99F302D3FCDB}" type="datetimeFigureOut">
              <a:rPr lang="ko-KR" altLang="en-US" smtClean="0"/>
              <a:t>2026. 8. 29.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C0370-C703-4449-8B3A-5EF8716EC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47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AA4A-0D37-4197-91EE-99F302D3FCDB}" type="datetimeFigureOut">
              <a:rPr lang="ko-KR" altLang="en-US" smtClean="0"/>
              <a:t>2026. 8. 29.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C0370-C703-4449-8B3A-5EF8716EC67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35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AA4A-0D37-4197-91EE-99F302D3FCDB}" type="datetimeFigureOut">
              <a:rPr lang="ko-KR" altLang="en-US" smtClean="0"/>
              <a:t>2026. 8. 29.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C0370-C703-4449-8B3A-5EF8716EC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87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AA4A-0D37-4197-91EE-99F302D3FCDB}" type="datetimeFigureOut">
              <a:rPr lang="ko-KR" altLang="en-US" smtClean="0"/>
              <a:t>2026. 8. 29.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C0370-C703-4449-8B3A-5EF8716EC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12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AA4A-0D37-4197-91EE-99F302D3FCDB}" type="datetimeFigureOut">
              <a:rPr lang="ko-KR" altLang="en-US" smtClean="0"/>
              <a:t>2026. 8. 29.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C0370-C703-4449-8B3A-5EF8716EC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90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AA4A-0D37-4197-91EE-99F302D3FCDB}" type="datetimeFigureOut">
              <a:rPr lang="ko-KR" altLang="en-US" smtClean="0"/>
              <a:t>2026. 8. 29.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C0370-C703-4449-8B3A-5EF8716EC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080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7A2AA4A-0D37-4197-91EE-99F302D3FCDB}" type="datetimeFigureOut">
              <a:rPr lang="ko-KR" altLang="en-US" smtClean="0"/>
              <a:t>2026. 8. 29.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CC0370-C703-4449-8B3A-5EF8716EC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820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AA4A-0D37-4197-91EE-99F302D3FCDB}" type="datetimeFigureOut">
              <a:rPr lang="ko-KR" altLang="en-US" smtClean="0"/>
              <a:t>2026. 8. 29.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C0370-C703-4449-8B3A-5EF8716EC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27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AA4A-0D37-4197-91EE-99F302D3FCDB}" type="datetimeFigureOut">
              <a:rPr lang="ko-KR" altLang="en-US" smtClean="0"/>
              <a:t>2026. 8. 29.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C0370-C703-4449-8B3A-5EF8716EC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37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AA4A-0D37-4197-91EE-99F302D3FCDB}" type="datetimeFigureOut">
              <a:rPr lang="ko-KR" altLang="en-US" smtClean="0"/>
              <a:t>2026. 8. 29.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C0370-C703-4449-8B3A-5EF8716EC6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84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ore-KR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ore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7A2AA4A-0D37-4197-91EE-99F302D3FCDB}" type="datetimeFigureOut">
              <a:rPr lang="ko-KR" altLang="en-US" smtClean="0"/>
              <a:t>2026. 8. 29.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6CC0370-C703-4449-8B3A-5EF8716EC67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68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9E3DB-B005-2497-F9C2-B826D69C3B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SLA </a:t>
            </a:r>
            <a:r>
              <a:rPr lang="en-US" altLang="ko-KR"/>
              <a:t>600 LOG </a:t>
            </a:r>
            <a:r>
              <a:rPr lang="en-US" altLang="ko-KR" dirty="0"/>
              <a:t>DATA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577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6102E-7E9C-DAAD-27DA-80C2B9C5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로그 데이터 전체적인 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4FD45-16C1-0A6D-ADAF-72608C9CEDF5}"/>
              </a:ext>
            </a:extLst>
          </p:cNvPr>
          <p:cNvSpPr txBox="1"/>
          <p:nvPr/>
        </p:nvSpPr>
        <p:spPr>
          <a:xfrm>
            <a:off x="478398" y="2217496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1. </a:t>
            </a:r>
            <a:r>
              <a:rPr lang="ko-KR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프린트 시작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5E531-B929-5CA7-CCE7-63538347E0D4}"/>
              </a:ext>
            </a:extLst>
          </p:cNvPr>
          <p:cNvSpPr txBox="1"/>
          <p:nvPr/>
        </p:nvSpPr>
        <p:spPr>
          <a:xfrm>
            <a:off x="478398" y="2800836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ko-KR" altLang="ko-KR" sz="1800" b="1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베큠</a:t>
            </a:r>
            <a:r>
              <a:rPr lang="ko-KR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펌프 작동</a:t>
            </a:r>
            <a:r>
              <a:rPr lang="en-US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(</a:t>
            </a:r>
            <a:r>
              <a:rPr lang="ko-KR" altLang="ko-KR" sz="1800" b="1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리코터</a:t>
            </a:r>
            <a:r>
              <a:rPr lang="ko-KR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내부로 레진 흡입</a:t>
            </a:r>
            <a:r>
              <a:rPr lang="en-US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03F14C-889B-E337-906A-3B6677EAE102}"/>
              </a:ext>
            </a:extLst>
          </p:cNvPr>
          <p:cNvSpPr txBox="1"/>
          <p:nvPr/>
        </p:nvSpPr>
        <p:spPr>
          <a:xfrm>
            <a:off x="478398" y="3378446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3. </a:t>
            </a:r>
            <a:r>
              <a:rPr lang="ko-KR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스캐너</a:t>
            </a:r>
            <a:r>
              <a:rPr lang="en-US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엘리베이터</a:t>
            </a:r>
            <a:r>
              <a:rPr lang="en-US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ko-KR" sz="1800" b="1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리코터</a:t>
            </a:r>
            <a:r>
              <a:rPr lang="en-US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레진 각축의원점 초기화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BA470A-4193-E983-5A59-705EA8944767}"/>
              </a:ext>
            </a:extLst>
          </p:cNvPr>
          <p:cNvSpPr txBox="1"/>
          <p:nvPr/>
        </p:nvSpPr>
        <p:spPr>
          <a:xfrm>
            <a:off x="478398" y="3990937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4. </a:t>
            </a:r>
            <a:r>
              <a:rPr lang="ko-KR" altLang="ko-KR" sz="1800" b="1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레진 수위 체크 및 수면 버블 제거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A1ED8A-6236-F210-CAD5-3C5A6FFB779E}"/>
              </a:ext>
            </a:extLst>
          </p:cNvPr>
          <p:cNvSpPr txBox="1"/>
          <p:nvPr/>
        </p:nvSpPr>
        <p:spPr>
          <a:xfrm>
            <a:off x="478398" y="4641981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5. </a:t>
            </a:r>
            <a:r>
              <a:rPr lang="ko-KR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출력 시작 전 대기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F6166A-FE7D-8C67-C4A2-9F1997AF18D4}"/>
              </a:ext>
            </a:extLst>
          </p:cNvPr>
          <p:cNvSpPr txBox="1"/>
          <p:nvPr/>
        </p:nvSpPr>
        <p:spPr>
          <a:xfrm>
            <a:off x="6486754" y="2201294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6. </a:t>
            </a:r>
            <a:r>
              <a:rPr lang="ko-KR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프린팅 시작 준비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23F2CD-5527-DAFA-02BB-EC08E73F4305}"/>
              </a:ext>
            </a:extLst>
          </p:cNvPr>
          <p:cNvSpPr txBox="1"/>
          <p:nvPr/>
        </p:nvSpPr>
        <p:spPr>
          <a:xfrm>
            <a:off x="6474562" y="4222844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9</a:t>
            </a:r>
            <a:r>
              <a:rPr lang="en-US" altLang="ko-KR" sz="1800" b="1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. Solid </a:t>
            </a:r>
            <a:r>
              <a:rPr lang="ko-KR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레이어 적층 작업 반복</a:t>
            </a:r>
            <a:r>
              <a:rPr lang="en-US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(61~79 layer)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C705C0-3EF2-F6D0-7B83-197344B489FC}"/>
              </a:ext>
            </a:extLst>
          </p:cNvPr>
          <p:cNvSpPr txBox="1"/>
          <p:nvPr/>
        </p:nvSpPr>
        <p:spPr>
          <a:xfrm>
            <a:off x="6474562" y="356788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8</a:t>
            </a:r>
            <a:r>
              <a:rPr lang="en-US" altLang="ko-KR" sz="1800" b="1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r>
              <a:rPr lang="ko-KR" altLang="en-US" sz="1800" b="1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800" b="1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Support </a:t>
            </a:r>
            <a:r>
              <a:rPr lang="ko-KR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레이어 적층 작업 반복</a:t>
            </a:r>
            <a:r>
              <a:rPr lang="en-US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(1~60 layer)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21B648-D35B-FCA5-8744-F845D38BDE8B}"/>
              </a:ext>
            </a:extLst>
          </p:cNvPr>
          <p:cNvSpPr txBox="1"/>
          <p:nvPr/>
        </p:nvSpPr>
        <p:spPr>
          <a:xfrm>
            <a:off x="6486754" y="4888903"/>
            <a:ext cx="6392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10</a:t>
            </a:r>
            <a:r>
              <a:rPr lang="en-US" altLang="ko-KR" sz="1800" b="1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프린팅 완료 및 작업 종료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A666F2-03F7-A96F-159A-C0953CF84E13}"/>
              </a:ext>
            </a:extLst>
          </p:cNvPr>
          <p:cNvSpPr txBox="1"/>
          <p:nvPr/>
        </p:nvSpPr>
        <p:spPr>
          <a:xfrm>
            <a:off x="6474562" y="2920788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7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r>
              <a:rPr lang="ko-KR" altLang="en-US" sz="1800" b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번 째 </a:t>
            </a:r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test </a:t>
            </a:r>
            <a:r>
              <a:rPr lang="ko-KR" altLang="ko-KR" sz="1800" b="1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레이어부터 프린팅 시작</a:t>
            </a:r>
            <a:r>
              <a:rPr lang="en-US" altLang="ko-KR" sz="1800" b="1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(0 layer)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4328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2F397-0757-CF7D-D8D0-A11E25F2E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8A18006-83F2-1971-AC40-D57984AD2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b="1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1. </a:t>
            </a:r>
            <a:r>
              <a:rPr lang="ko-KR" altLang="ko-KR" sz="30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프린트 시작</a:t>
            </a:r>
            <a:endParaRPr lang="ko-Kore-KR" altLang="en-US" sz="3000" dirty="0"/>
          </a:p>
        </p:txBody>
      </p:sp>
      <p:pic>
        <p:nvPicPr>
          <p:cNvPr id="12" name="그림 11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311AFF6-1FAA-D29C-1B9B-215F04D81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74" y="2937370"/>
            <a:ext cx="9469059" cy="2449524"/>
          </a:xfrm>
          <a:prstGeom prst="rect">
            <a:avLst/>
          </a:prstGeom>
        </p:spPr>
      </p:pic>
      <p:sp>
        <p:nvSpPr>
          <p:cNvPr id="14" name="오른쪽 대괄호[R] 13">
            <a:extLst>
              <a:ext uri="{FF2B5EF4-FFF2-40B4-BE49-F238E27FC236}">
                <a16:creationId xmlns:a16="http://schemas.microsoft.com/office/drawing/2014/main" id="{D4DA11B5-25EC-DD8C-4912-03FB73306388}"/>
              </a:ext>
            </a:extLst>
          </p:cNvPr>
          <p:cNvSpPr/>
          <p:nvPr/>
        </p:nvSpPr>
        <p:spPr>
          <a:xfrm>
            <a:off x="9877049" y="3894271"/>
            <a:ext cx="170594" cy="321650"/>
          </a:xfrm>
          <a:prstGeom prst="righ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0D26A7-3842-4DEF-F0B6-DAD289B79C45}"/>
              </a:ext>
            </a:extLst>
          </p:cNvPr>
          <p:cNvSpPr txBox="1"/>
          <p:nvPr/>
        </p:nvSpPr>
        <p:spPr>
          <a:xfrm>
            <a:off x="10198249" y="3719458"/>
            <a:ext cx="1993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dirty="0"/>
              <a:t>작업물</a:t>
            </a:r>
            <a:r>
              <a:rPr kumimoji="1" lang="ko-KR" altLang="en-US" dirty="0"/>
              <a:t> 불러오는 함수 호출과 완료</a:t>
            </a:r>
            <a:endParaRPr kumimoji="1" lang="ko-Kore-KR" altLang="en-US" dirty="0"/>
          </a:p>
        </p:txBody>
      </p: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id="{A899AFBB-29C3-7454-D55A-29A8440FB44B}"/>
              </a:ext>
            </a:extLst>
          </p:cNvPr>
          <p:cNvCxnSpPr/>
          <p:nvPr/>
        </p:nvCxnSpPr>
        <p:spPr>
          <a:xfrm>
            <a:off x="9855533" y="5056097"/>
            <a:ext cx="321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BFD0B4A-6017-D68D-568B-D515417D512D}"/>
              </a:ext>
            </a:extLst>
          </p:cNvPr>
          <p:cNvSpPr txBox="1"/>
          <p:nvPr/>
        </p:nvSpPr>
        <p:spPr>
          <a:xfrm>
            <a:off x="10198249" y="4893835"/>
            <a:ext cx="1993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dirty="0"/>
              <a:t>작업물</a:t>
            </a:r>
            <a:r>
              <a:rPr kumimoji="1" lang="ko-KR" altLang="en-US" dirty="0"/>
              <a:t> 불러오는 함수 호출</a:t>
            </a:r>
            <a:endParaRPr kumimoji="1" lang="ko-Kore-KR" altLang="en-US" dirty="0"/>
          </a:p>
        </p:txBody>
      </p:sp>
      <p:sp>
        <p:nvSpPr>
          <p:cNvPr id="22" name="도넛[D] 21">
            <a:extLst>
              <a:ext uri="{FF2B5EF4-FFF2-40B4-BE49-F238E27FC236}">
                <a16:creationId xmlns:a16="http://schemas.microsoft.com/office/drawing/2014/main" id="{662A89B6-95A3-5A54-554E-AD8D30475130}"/>
              </a:ext>
            </a:extLst>
          </p:cNvPr>
          <p:cNvSpPr/>
          <p:nvPr/>
        </p:nvSpPr>
        <p:spPr>
          <a:xfrm>
            <a:off x="7551868" y="3815539"/>
            <a:ext cx="451822" cy="267861"/>
          </a:xfrm>
          <a:prstGeom prst="donut">
            <a:avLst>
              <a:gd name="adj" fmla="val 1684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D016291-BC6B-23FF-BAFF-392CCFED9CBD}"/>
              </a:ext>
            </a:extLst>
          </p:cNvPr>
          <p:cNvCxnSpPr>
            <a:cxnSpLocks/>
          </p:cNvCxnSpPr>
          <p:nvPr/>
        </p:nvCxnSpPr>
        <p:spPr>
          <a:xfrm flipV="1">
            <a:off x="7799295" y="3550026"/>
            <a:ext cx="2269864" cy="29778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DFE256B-CB73-84DF-7376-B7CD7304BE25}"/>
              </a:ext>
            </a:extLst>
          </p:cNvPr>
          <p:cNvSpPr txBox="1"/>
          <p:nvPr/>
        </p:nvSpPr>
        <p:spPr>
          <a:xfrm>
            <a:off x="10126530" y="3335414"/>
            <a:ext cx="1993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dirty="0"/>
              <a:t>함수</a:t>
            </a:r>
            <a:r>
              <a:rPr kumimoji="1" lang="ko-KR" altLang="en-US" dirty="0"/>
              <a:t> 고유 번호</a:t>
            </a:r>
            <a:endParaRPr kumimoji="1" lang="ko-Kore-KR" altLang="en-US" dirty="0"/>
          </a:p>
        </p:txBody>
      </p:sp>
      <p:sp>
        <p:nvSpPr>
          <p:cNvPr id="29" name="도넛[D] 28">
            <a:extLst>
              <a:ext uri="{FF2B5EF4-FFF2-40B4-BE49-F238E27FC236}">
                <a16:creationId xmlns:a16="http://schemas.microsoft.com/office/drawing/2014/main" id="{926A59E8-098A-BB9B-F7BE-BFDDA6AA74F1}"/>
              </a:ext>
            </a:extLst>
          </p:cNvPr>
          <p:cNvSpPr/>
          <p:nvPr/>
        </p:nvSpPr>
        <p:spPr>
          <a:xfrm>
            <a:off x="3928333" y="4028201"/>
            <a:ext cx="546847" cy="267861"/>
          </a:xfrm>
          <a:prstGeom prst="donut">
            <a:avLst>
              <a:gd name="adj" fmla="val 1684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cxnSp>
        <p:nvCxnSpPr>
          <p:cNvPr id="33" name="꺾인 연결선[E] 32">
            <a:extLst>
              <a:ext uri="{FF2B5EF4-FFF2-40B4-BE49-F238E27FC236}">
                <a16:creationId xmlns:a16="http://schemas.microsoft.com/office/drawing/2014/main" id="{13C5EA86-35B0-8543-64FD-7A7EF3EE651E}"/>
              </a:ext>
            </a:extLst>
          </p:cNvPr>
          <p:cNvCxnSpPr>
            <a:cxnSpLocks/>
            <a:stCxn id="29" idx="1"/>
          </p:cNvCxnSpPr>
          <p:nvPr/>
        </p:nvCxnSpPr>
        <p:spPr>
          <a:xfrm rot="5400000" flipH="1" flipV="1">
            <a:off x="3406110" y="3098083"/>
            <a:ext cx="1571652" cy="367039"/>
          </a:xfrm>
          <a:prstGeom prst="bentConnector3">
            <a:avLst>
              <a:gd name="adj1" fmla="val 100652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3484073-098C-9F77-F2D6-A6098DFBB1AB}"/>
              </a:ext>
            </a:extLst>
          </p:cNvPr>
          <p:cNvSpPr txBox="1"/>
          <p:nvPr/>
        </p:nvSpPr>
        <p:spPr>
          <a:xfrm>
            <a:off x="4375456" y="2172610"/>
            <a:ext cx="4001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dirty="0"/>
              <a:t>로그별</a:t>
            </a:r>
            <a:r>
              <a:rPr kumimoji="1" lang="ko-KR" altLang="en-US" dirty="0"/>
              <a:t> 실행된 고유 프로세스 </a:t>
            </a:r>
            <a:r>
              <a:rPr kumimoji="1" lang="en-US" altLang="ko-KR" dirty="0"/>
              <a:t>ID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ko-KR" altLang="en-US" dirty="0"/>
              <a:t>로그별로 달라지는 값</a:t>
            </a:r>
            <a:r>
              <a:rPr kumimoji="1" lang="en-US" altLang="ko-KR" dirty="0"/>
              <a:t>)</a:t>
            </a:r>
            <a:r>
              <a:rPr kumimoji="1" lang="ko-KR" altLang="en-US" dirty="0"/>
              <a:t>  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277018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BF2C2-B396-00D4-FF67-4D7F1379E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62BF823-FD19-34D6-66F9-AE1BBB6FE0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860197"/>
            <a:ext cx="1005840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ko-KR" altLang="ko-KR" sz="3000" b="1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베큠</a:t>
            </a:r>
            <a:r>
              <a:rPr lang="ko-KR" altLang="ko-KR" sz="30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펌프 작동</a:t>
            </a:r>
            <a:r>
              <a:rPr lang="ko-KR" altLang="en-US" sz="30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30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&amp;</a:t>
            </a:r>
            <a:br>
              <a:rPr lang="en-US" altLang="ko-KR" sz="30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3000" b="1" dirty="0">
                <a:latin typeface="+mj-ea"/>
                <a:cs typeface="Times New Roman" panose="02020603050405020304" pitchFamily="18" charset="0"/>
              </a:rPr>
              <a:t>3.</a:t>
            </a:r>
            <a:r>
              <a:rPr lang="ko-KR" altLang="en-US" sz="3000" b="1" dirty="0">
                <a:latin typeface="+mj-ea"/>
                <a:cs typeface="Times New Roman" panose="02020603050405020304" pitchFamily="18" charset="0"/>
              </a:rPr>
              <a:t> </a:t>
            </a:r>
            <a:r>
              <a:rPr lang="ko-KR" altLang="ko-KR" sz="30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스캐너</a:t>
            </a:r>
            <a:r>
              <a:rPr lang="en-US" altLang="ko-KR" sz="30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ko-KR" sz="30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엘리베이터</a:t>
            </a:r>
            <a:r>
              <a:rPr lang="en-US" altLang="ko-KR" sz="30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ko-KR" sz="3000" b="1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리코터</a:t>
            </a:r>
            <a:r>
              <a:rPr lang="en-US" altLang="ko-KR" sz="30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ko-KR" sz="30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레진 </a:t>
            </a:r>
            <a:r>
              <a:rPr lang="ko-KR" altLang="en-US" sz="3000" b="1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블럭</a:t>
            </a:r>
            <a:r>
              <a:rPr lang="ko-KR" altLang="ko-KR" sz="3000" b="1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의</a:t>
            </a:r>
            <a:r>
              <a:rPr lang="ko-KR" altLang="en-US" sz="30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30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원점 초기화</a:t>
            </a:r>
            <a:endParaRPr lang="ko-KR" altLang="en-US" sz="3000" dirty="0"/>
          </a:p>
        </p:txBody>
      </p:sp>
      <p:pic>
        <p:nvPicPr>
          <p:cNvPr id="8" name="그림 7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4D2AAE3-B080-422B-6550-120AD7E59E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99" y="2545580"/>
            <a:ext cx="10837076" cy="276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618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86716-C3C6-D6BC-081E-86D597374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252F144-9FBF-EE80-A9E5-886D45384E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251977"/>
            <a:ext cx="1005840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4. </a:t>
            </a:r>
            <a:r>
              <a:rPr lang="ko-KR" altLang="ko-KR" sz="3000" b="1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레진 수위 체크 및 수면 버블 제거</a:t>
            </a:r>
            <a:endParaRPr lang="ko-KR" altLang="en-US" sz="3000" dirty="0"/>
          </a:p>
        </p:txBody>
      </p:sp>
      <p:pic>
        <p:nvPicPr>
          <p:cNvPr id="7" name="그림 6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4B89641-D608-3FD0-9B9C-4221B0BC8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1217"/>
            <a:ext cx="12050780" cy="4030768"/>
          </a:xfrm>
          <a:prstGeom prst="rect">
            <a:avLst/>
          </a:prstGeom>
        </p:spPr>
      </p:pic>
      <p:sp>
        <p:nvSpPr>
          <p:cNvPr id="9" name="오른쪽 대괄호[R] 8">
            <a:extLst>
              <a:ext uri="{FF2B5EF4-FFF2-40B4-BE49-F238E27FC236}">
                <a16:creationId xmlns:a16="http://schemas.microsoft.com/office/drawing/2014/main" id="{103CE7E4-F62D-C186-EB31-816B2CFC2862}"/>
              </a:ext>
            </a:extLst>
          </p:cNvPr>
          <p:cNvSpPr/>
          <p:nvPr/>
        </p:nvSpPr>
        <p:spPr>
          <a:xfrm flipH="1">
            <a:off x="2889116" y="5247703"/>
            <a:ext cx="159116" cy="716640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1" name="꺾인 연결선[E] 10">
            <a:extLst>
              <a:ext uri="{FF2B5EF4-FFF2-40B4-BE49-F238E27FC236}">
                <a16:creationId xmlns:a16="http://schemas.microsoft.com/office/drawing/2014/main" id="{A8904509-FD87-EBEF-0A7D-69842658452B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2889116" y="5606023"/>
            <a:ext cx="79558" cy="620628"/>
          </a:xfrm>
          <a:prstGeom prst="bentConnector4">
            <a:avLst>
              <a:gd name="adj1" fmla="val -348473"/>
              <a:gd name="adj2" fmla="val 10081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5500479-8825-5C43-0B6C-336C88C85E09}"/>
              </a:ext>
            </a:extLst>
          </p:cNvPr>
          <p:cNvSpPr txBox="1"/>
          <p:nvPr/>
        </p:nvSpPr>
        <p:spPr>
          <a:xfrm>
            <a:off x="2921771" y="6051713"/>
            <a:ext cx="3907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레진 </a:t>
            </a:r>
            <a:r>
              <a:rPr kumimoji="1" lang="ko-KR" altLang="en-US" dirty="0" err="1"/>
              <a:t>블럭이</a:t>
            </a:r>
            <a:r>
              <a:rPr kumimoji="1" lang="ko-KR" altLang="en-US" dirty="0"/>
              <a:t> 한 번 움직인 과정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44555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47F7-F802-32F3-996A-D3E9D8D08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1908461-865D-39E7-8981-72B69A2FA1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251977"/>
            <a:ext cx="1005840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4. </a:t>
            </a:r>
            <a:r>
              <a:rPr lang="ko-KR" altLang="ko-KR" sz="3000" b="1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레진 수위 체크 및 수면 버블 제거</a:t>
            </a:r>
            <a:endParaRPr lang="ko-KR" altLang="en-US" sz="3000" dirty="0"/>
          </a:p>
        </p:txBody>
      </p:sp>
      <p:pic>
        <p:nvPicPr>
          <p:cNvPr id="2" name="그림 1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533F974-FDDD-56D9-8F8E-D9F504BA4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4" y="2974661"/>
            <a:ext cx="12124558" cy="2543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F00587-3B42-F657-26F7-E8D1BD1A7DF1}"/>
              </a:ext>
            </a:extLst>
          </p:cNvPr>
          <p:cNvSpPr txBox="1"/>
          <p:nvPr/>
        </p:nvSpPr>
        <p:spPr>
          <a:xfrm>
            <a:off x="5634000" y="1830346"/>
            <a:ext cx="11948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000" b="1" dirty="0"/>
              <a:t>.</a:t>
            </a:r>
          </a:p>
          <a:p>
            <a:r>
              <a:rPr kumimoji="1" lang="en-US" altLang="ko-KR" sz="2000" b="1" dirty="0"/>
              <a:t>.</a:t>
            </a:r>
          </a:p>
          <a:p>
            <a:r>
              <a:rPr kumimoji="1" lang="en-US" altLang="ko-KR" sz="2000" b="1" dirty="0"/>
              <a:t>.</a:t>
            </a:r>
            <a:endParaRPr kumimoji="1" lang="ko-Kore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04B7F-7332-2955-B64F-231D0C5EEC8B}"/>
              </a:ext>
            </a:extLst>
          </p:cNvPr>
          <p:cNvSpPr txBox="1"/>
          <p:nvPr/>
        </p:nvSpPr>
        <p:spPr>
          <a:xfrm>
            <a:off x="6645936" y="2215531"/>
            <a:ext cx="4802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dirty="0"/>
              <a:t>레진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블럭</a:t>
            </a:r>
            <a:r>
              <a:rPr kumimoji="1" lang="ko-KR" altLang="en-US" dirty="0"/>
              <a:t> 계속 이동하며 레진 수위 조절</a:t>
            </a:r>
            <a:endParaRPr kumimoji="1" lang="ko-Kore-KR" altLang="en-US" dirty="0"/>
          </a:p>
        </p:txBody>
      </p:sp>
      <p:sp>
        <p:nvSpPr>
          <p:cNvPr id="6" name="오른쪽 대괄호[R] 5">
            <a:extLst>
              <a:ext uri="{FF2B5EF4-FFF2-40B4-BE49-F238E27FC236}">
                <a16:creationId xmlns:a16="http://schemas.microsoft.com/office/drawing/2014/main" id="{86334E95-64DD-D07D-6F45-7303D71025B9}"/>
              </a:ext>
            </a:extLst>
          </p:cNvPr>
          <p:cNvSpPr/>
          <p:nvPr/>
        </p:nvSpPr>
        <p:spPr>
          <a:xfrm>
            <a:off x="6330240" y="2065869"/>
            <a:ext cx="181584" cy="668657"/>
          </a:xfrm>
          <a:prstGeom prst="righ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도넛[D] 7">
            <a:extLst>
              <a:ext uri="{FF2B5EF4-FFF2-40B4-BE49-F238E27FC236}">
                <a16:creationId xmlns:a16="http://schemas.microsoft.com/office/drawing/2014/main" id="{0DB1C260-DCB1-4BE2-E21E-A108CD820600}"/>
              </a:ext>
            </a:extLst>
          </p:cNvPr>
          <p:cNvSpPr/>
          <p:nvPr/>
        </p:nvSpPr>
        <p:spPr>
          <a:xfrm>
            <a:off x="8558714" y="2929739"/>
            <a:ext cx="548710" cy="264566"/>
          </a:xfrm>
          <a:prstGeom prst="donut">
            <a:avLst>
              <a:gd name="adj" fmla="val 1684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cxnSp>
        <p:nvCxnSpPr>
          <p:cNvPr id="12" name="꺾인 연결선[E] 11">
            <a:extLst>
              <a:ext uri="{FF2B5EF4-FFF2-40B4-BE49-F238E27FC236}">
                <a16:creationId xmlns:a16="http://schemas.microsoft.com/office/drawing/2014/main" id="{5A582478-54F9-332B-9679-F117A414D6D1}"/>
              </a:ext>
            </a:extLst>
          </p:cNvPr>
          <p:cNvCxnSpPr>
            <a:cxnSpLocks/>
          </p:cNvCxnSpPr>
          <p:nvPr/>
        </p:nvCxnSpPr>
        <p:spPr>
          <a:xfrm>
            <a:off x="8833069" y="3194305"/>
            <a:ext cx="408467" cy="344876"/>
          </a:xfrm>
          <a:prstGeom prst="bentConnector3">
            <a:avLst>
              <a:gd name="adj1" fmla="val -372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0492064-2C76-36A5-9676-5B58AACB7BA5}"/>
              </a:ext>
            </a:extLst>
          </p:cNvPr>
          <p:cNvSpPr txBox="1"/>
          <p:nvPr/>
        </p:nvSpPr>
        <p:spPr>
          <a:xfrm>
            <a:off x="9192768" y="3366743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1.2</a:t>
            </a:r>
            <a:r>
              <a:rPr lang="ko-KR" altLang="en-US" sz="14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 </a:t>
            </a:r>
            <a:r>
              <a:rPr lang="en-US" altLang="ko-Kore-KR" sz="14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±</a:t>
            </a:r>
            <a:r>
              <a:rPr kumimoji="1" lang="ko-KR" altLang="en-US" sz="14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 </a:t>
            </a:r>
            <a:r>
              <a:rPr kumimoji="1" lang="en-US" altLang="ko-KR" sz="14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0.8</a:t>
            </a:r>
            <a:r>
              <a:rPr kumimoji="1" lang="ko-KR" altLang="en-US" sz="1400" dirty="0">
                <a:solidFill>
                  <a:schemeClr val="bg1"/>
                </a:solidFill>
                <a:latin typeface="-webkit-standard"/>
              </a:rPr>
              <a:t> 안에 들어왔기에 조절 완료</a:t>
            </a:r>
            <a:endParaRPr kumimoji="1" lang="ko-Kore-KR" altLang="en-US" sz="1400" dirty="0">
              <a:solidFill>
                <a:schemeClr val="bg1"/>
              </a:solidFill>
            </a:endParaRPr>
          </a:p>
        </p:txBody>
      </p:sp>
      <p:sp>
        <p:nvSpPr>
          <p:cNvPr id="21" name="오른쪽 대괄호[R] 20">
            <a:extLst>
              <a:ext uri="{FF2B5EF4-FFF2-40B4-BE49-F238E27FC236}">
                <a16:creationId xmlns:a16="http://schemas.microsoft.com/office/drawing/2014/main" id="{83A38DDD-9AC5-611A-9C7D-A7F5FDF7D049}"/>
              </a:ext>
            </a:extLst>
          </p:cNvPr>
          <p:cNvSpPr/>
          <p:nvPr/>
        </p:nvSpPr>
        <p:spPr>
          <a:xfrm>
            <a:off x="8961768" y="4432241"/>
            <a:ext cx="145656" cy="993199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22" name="꺾인 연결선[E] 21">
            <a:extLst>
              <a:ext uri="{FF2B5EF4-FFF2-40B4-BE49-F238E27FC236}">
                <a16:creationId xmlns:a16="http://schemas.microsoft.com/office/drawing/2014/main" id="{34EE9962-3325-C782-88AA-0F4A471F6981}"/>
              </a:ext>
            </a:extLst>
          </p:cNvPr>
          <p:cNvCxnSpPr>
            <a:cxnSpLocks/>
            <a:stCxn id="21" idx="2"/>
          </p:cNvCxnSpPr>
          <p:nvPr/>
        </p:nvCxnSpPr>
        <p:spPr>
          <a:xfrm rot="10800000" flipH="1">
            <a:off x="9107424" y="4928841"/>
            <a:ext cx="573024" cy="1"/>
          </a:xfrm>
          <a:prstGeom prst="bentConnector5">
            <a:avLst>
              <a:gd name="adj1" fmla="val 4787"/>
              <a:gd name="adj2" fmla="val 587200000"/>
              <a:gd name="adj3" fmla="val 7541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9ACE4F7-BD38-9830-7249-DB6956D78432}"/>
              </a:ext>
            </a:extLst>
          </p:cNvPr>
          <p:cNvSpPr txBox="1"/>
          <p:nvPr/>
        </p:nvSpPr>
        <p:spPr>
          <a:xfrm>
            <a:off x="9680448" y="4758567"/>
            <a:ext cx="165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solidFill>
                  <a:schemeClr val="bg1"/>
                </a:solidFill>
                <a:latin typeface="-webkit-standard"/>
              </a:rPr>
              <a:t>버블 제거 과정</a:t>
            </a:r>
            <a:endParaRPr kumimoji="1" lang="ko-Kore-KR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471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09B5F-E1B9-56A5-132A-4424C8EFC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DBB55B8-5F4C-A0F1-E889-5693B2AD6E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688233"/>
            <a:ext cx="10058400" cy="1048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5. </a:t>
            </a:r>
            <a:r>
              <a:rPr lang="ko-KR" altLang="ko-KR" sz="32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출력 시작 전 대기</a:t>
            </a:r>
            <a:r>
              <a:rPr lang="ko-KR" altLang="en-US" sz="3200" b="1" dirty="0"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3200" b="1" dirty="0">
                <a:ea typeface="맑은 고딕" panose="020B0503020000020004" pitchFamily="50" charset="-127"/>
                <a:cs typeface="Times New Roman" panose="02020603050405020304" pitchFamily="18" charset="0"/>
              </a:rPr>
              <a:t>&amp;</a:t>
            </a:r>
            <a:br>
              <a:rPr lang="en-US" altLang="ko-KR" sz="3200" b="1" dirty="0"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3000" b="1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6. </a:t>
            </a:r>
            <a:r>
              <a:rPr lang="ko-KR" altLang="ko-KR" sz="30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프린팅 시작 준비</a:t>
            </a:r>
            <a:br>
              <a:rPr lang="ko-KR" altLang="en-US" sz="800" dirty="0"/>
            </a:br>
            <a:endParaRPr lang="ko-KR" altLang="en-US" sz="1100" dirty="0"/>
          </a:p>
        </p:txBody>
      </p:sp>
      <p:pic>
        <p:nvPicPr>
          <p:cNvPr id="6" name="그림 5" descr="스크린샷, 텍스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037ADBE-FEAA-6E4D-99FC-E050151CE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80" y="1901844"/>
            <a:ext cx="11451839" cy="2548236"/>
          </a:xfrm>
          <a:prstGeom prst="rect">
            <a:avLst/>
          </a:prstGeom>
        </p:spPr>
      </p:pic>
      <p:sp>
        <p:nvSpPr>
          <p:cNvPr id="8" name="오른쪽 대괄호[R] 7">
            <a:extLst>
              <a:ext uri="{FF2B5EF4-FFF2-40B4-BE49-F238E27FC236}">
                <a16:creationId xmlns:a16="http://schemas.microsoft.com/office/drawing/2014/main" id="{21FF4FB7-8D03-B164-99BE-A3CF4B32C8F4}"/>
              </a:ext>
            </a:extLst>
          </p:cNvPr>
          <p:cNvSpPr/>
          <p:nvPr/>
        </p:nvSpPr>
        <p:spPr>
          <a:xfrm flipH="1">
            <a:off x="3242684" y="3660635"/>
            <a:ext cx="159116" cy="716640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0" name="꺾인 연결선[E] 9">
            <a:extLst>
              <a:ext uri="{FF2B5EF4-FFF2-40B4-BE49-F238E27FC236}">
                <a16:creationId xmlns:a16="http://schemas.microsoft.com/office/drawing/2014/main" id="{7709CF27-2821-2891-34E9-5514E003BE14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242684" y="4018955"/>
            <a:ext cx="79558" cy="620628"/>
          </a:xfrm>
          <a:prstGeom prst="bentConnector4">
            <a:avLst>
              <a:gd name="adj1" fmla="val -348473"/>
              <a:gd name="adj2" fmla="val 10081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1A9FF9A-B39E-4BD8-6587-469537B410D6}"/>
              </a:ext>
            </a:extLst>
          </p:cNvPr>
          <p:cNvSpPr txBox="1"/>
          <p:nvPr/>
        </p:nvSpPr>
        <p:spPr>
          <a:xfrm>
            <a:off x="3322242" y="4489969"/>
            <a:ext cx="3907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레진 </a:t>
            </a:r>
            <a:r>
              <a:rPr kumimoji="1" lang="ko-KR" altLang="en-US" dirty="0" err="1"/>
              <a:t>블럭이</a:t>
            </a:r>
            <a:r>
              <a:rPr kumimoji="1" lang="ko-KR" altLang="en-US" dirty="0"/>
              <a:t> 한 번 움직인 과정</a:t>
            </a:r>
            <a:endParaRPr kumimoji="1" lang="ko-Kore-KR" altLang="en-US" dirty="0"/>
          </a:p>
        </p:txBody>
      </p:sp>
      <p:pic>
        <p:nvPicPr>
          <p:cNvPr id="14" name="그림 13" descr="스크린샷, 텍스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48F88A8-77A4-A9F1-E406-8C728ECB9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79" y="5200178"/>
            <a:ext cx="11451839" cy="14862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1EB290-1987-33A0-6EE2-D62DF92C2A1E}"/>
              </a:ext>
            </a:extLst>
          </p:cNvPr>
          <p:cNvSpPr txBox="1"/>
          <p:nvPr/>
        </p:nvSpPr>
        <p:spPr>
          <a:xfrm>
            <a:off x="6638285" y="4353875"/>
            <a:ext cx="59740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600" b="1" dirty="0"/>
              <a:t>.</a:t>
            </a:r>
          </a:p>
          <a:p>
            <a:r>
              <a:rPr kumimoji="1" lang="en-US" altLang="ko-KR" sz="1600" b="1" dirty="0"/>
              <a:t>.</a:t>
            </a:r>
          </a:p>
          <a:p>
            <a:r>
              <a:rPr kumimoji="1" lang="en-US" altLang="ko-KR" sz="1600" b="1" dirty="0"/>
              <a:t>.</a:t>
            </a:r>
            <a:endParaRPr kumimoji="1" lang="ko-Kore-KR" altLang="en-US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BC9AAA-F085-C9A2-14E6-842BBAB34775}"/>
              </a:ext>
            </a:extLst>
          </p:cNvPr>
          <p:cNvSpPr txBox="1"/>
          <p:nvPr/>
        </p:nvSpPr>
        <p:spPr>
          <a:xfrm>
            <a:off x="7189272" y="4639583"/>
            <a:ext cx="4802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dirty="0"/>
              <a:t>레진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블럭</a:t>
            </a:r>
            <a:r>
              <a:rPr kumimoji="1" lang="ko-KR" altLang="en-US" dirty="0"/>
              <a:t> 계속 이동하며 레진 수위 조절</a:t>
            </a:r>
            <a:endParaRPr kumimoji="1" lang="ko-Kore-KR" altLang="en-US" dirty="0"/>
          </a:p>
        </p:txBody>
      </p:sp>
      <p:sp>
        <p:nvSpPr>
          <p:cNvPr id="17" name="오른쪽 대괄호[R] 16">
            <a:extLst>
              <a:ext uri="{FF2B5EF4-FFF2-40B4-BE49-F238E27FC236}">
                <a16:creationId xmlns:a16="http://schemas.microsoft.com/office/drawing/2014/main" id="{3A364B1B-E08E-A8F1-7470-66C7C8B5A826}"/>
              </a:ext>
            </a:extLst>
          </p:cNvPr>
          <p:cNvSpPr/>
          <p:nvPr/>
        </p:nvSpPr>
        <p:spPr>
          <a:xfrm>
            <a:off x="6987132" y="4595760"/>
            <a:ext cx="132996" cy="482747"/>
          </a:xfrm>
          <a:prstGeom prst="righ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0235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229C-540C-8442-7019-0E2D542E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BC0609B-5879-E2D8-999A-9B9C67B40B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394580"/>
            <a:ext cx="10058400" cy="342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ko-KR" altLang="en-US" sz="800" dirty="0"/>
            </a:br>
            <a:endParaRPr lang="ko-KR" altLang="en-US" sz="1100" dirty="0"/>
          </a:p>
        </p:txBody>
      </p:sp>
      <p:sp>
        <p:nvSpPr>
          <p:cNvPr id="2" name="제목 4">
            <a:extLst>
              <a:ext uri="{FF2B5EF4-FFF2-40B4-BE49-F238E27FC236}">
                <a16:creationId xmlns:a16="http://schemas.microsoft.com/office/drawing/2014/main" id="{442BA78A-C009-293D-8C5E-FE191E0B6669}"/>
              </a:ext>
            </a:extLst>
          </p:cNvPr>
          <p:cNvSpPr txBox="1">
            <a:spLocks/>
          </p:cNvSpPr>
          <p:nvPr/>
        </p:nvSpPr>
        <p:spPr>
          <a:xfrm>
            <a:off x="1096963" y="976004"/>
            <a:ext cx="10058400" cy="76072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>
            <a:lvl1pPr marL="0"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7. 0</a:t>
            </a:r>
            <a:r>
              <a:rPr lang="ko-KR" altLang="en-US" sz="320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번 째 </a:t>
            </a:r>
            <a:r>
              <a:rPr lang="en-US" altLang="ko-KR" sz="320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test </a:t>
            </a:r>
            <a:r>
              <a:rPr lang="ko-KR" altLang="en-US" sz="320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레이어부터 프린팅 시작 </a:t>
            </a:r>
            <a:r>
              <a:rPr lang="en-US" altLang="ko-KR" sz="320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(0 layer)</a:t>
            </a:r>
          </a:p>
          <a:p>
            <a:br>
              <a:rPr lang="ko-KR" altLang="en-US" sz="800" dirty="0"/>
            </a:br>
            <a:endParaRPr lang="ko-KR" altLang="en-US" sz="1100" dirty="0"/>
          </a:p>
        </p:txBody>
      </p:sp>
      <p:pic>
        <p:nvPicPr>
          <p:cNvPr id="4" name="그림 3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F03A045-7111-8F6E-2666-9CEB54E75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09" y="2194349"/>
            <a:ext cx="11427382" cy="246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880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2C5A6-E40D-C21E-2726-094C0C82F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28134"/>
            <a:ext cx="10058400" cy="1450757"/>
          </a:xfrm>
        </p:spPr>
        <p:txBody>
          <a:bodyPr>
            <a:normAutofit/>
          </a:bodyPr>
          <a:lstStyle/>
          <a:p>
            <a:r>
              <a:rPr lang="en" altLang="ko-KR" sz="3600" b="1" dirty="0">
                <a:latin typeface="+mj-ea"/>
              </a:rPr>
              <a:t>8. Support </a:t>
            </a:r>
            <a:r>
              <a:rPr lang="ko-KR" altLang="en-US" sz="3600" b="1" dirty="0">
                <a:latin typeface="+mj-ea"/>
              </a:rPr>
              <a:t>레이어 적층 작업 반복 </a:t>
            </a:r>
            <a:r>
              <a:rPr lang="en-US" altLang="ko-KR" sz="3600" b="1" dirty="0">
                <a:latin typeface="+mj-ea"/>
              </a:rPr>
              <a:t>(1~60 </a:t>
            </a:r>
            <a:r>
              <a:rPr lang="en" altLang="ko-KR" sz="3600" b="1" dirty="0">
                <a:latin typeface="+mj-ea"/>
              </a:rPr>
              <a:t>layer)</a:t>
            </a:r>
            <a:br>
              <a:rPr lang="en" altLang="ko-KR" dirty="0"/>
            </a:b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1AD703-FB2F-5902-F078-F08EF9FB2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99" y="1871133"/>
            <a:ext cx="8046721" cy="4258733"/>
          </a:xfrm>
          <a:prstGeom prst="rect">
            <a:avLst/>
          </a:prstGeom>
        </p:spPr>
      </p:pic>
      <p:sp>
        <p:nvSpPr>
          <p:cNvPr id="3" name="오른쪽 대괄호[R] 2">
            <a:extLst>
              <a:ext uri="{FF2B5EF4-FFF2-40B4-BE49-F238E27FC236}">
                <a16:creationId xmlns:a16="http://schemas.microsoft.com/office/drawing/2014/main" id="{DB84033A-779D-2BC5-8587-1DD61BDAFD2C}"/>
              </a:ext>
            </a:extLst>
          </p:cNvPr>
          <p:cNvSpPr/>
          <p:nvPr/>
        </p:nvSpPr>
        <p:spPr>
          <a:xfrm>
            <a:off x="8242300" y="2250011"/>
            <a:ext cx="129540" cy="432229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4" name="꺾인 연결선[E] 3">
            <a:extLst>
              <a:ext uri="{FF2B5EF4-FFF2-40B4-BE49-F238E27FC236}">
                <a16:creationId xmlns:a16="http://schemas.microsoft.com/office/drawing/2014/main" id="{151E0801-5EE8-9574-4C48-3968162299B7}"/>
              </a:ext>
            </a:extLst>
          </p:cNvPr>
          <p:cNvCxnSpPr>
            <a:cxnSpLocks/>
            <a:stCxn id="3" idx="2"/>
          </p:cNvCxnSpPr>
          <p:nvPr/>
        </p:nvCxnSpPr>
        <p:spPr>
          <a:xfrm rot="10800000" flipH="1">
            <a:off x="8371840" y="2314384"/>
            <a:ext cx="558800" cy="151743"/>
          </a:xfrm>
          <a:prstGeom prst="bentConnector5">
            <a:avLst>
              <a:gd name="adj1" fmla="val 28182"/>
              <a:gd name="adj2" fmla="val 98901"/>
              <a:gd name="adj3" fmla="val 73182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C11A01F-B0A8-708D-7536-1914BE923017}"/>
              </a:ext>
            </a:extLst>
          </p:cNvPr>
          <p:cNvSpPr txBox="1"/>
          <p:nvPr/>
        </p:nvSpPr>
        <p:spPr>
          <a:xfrm>
            <a:off x="8879840" y="2079215"/>
            <a:ext cx="199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1400" dirty="0"/>
              <a:t>작업</a:t>
            </a:r>
            <a:r>
              <a:rPr kumimoji="1" lang="ko-KR" altLang="en-US" sz="1400" dirty="0"/>
              <a:t> 불러오는 함수 호출과 완료</a:t>
            </a:r>
            <a:endParaRPr kumimoji="1" lang="ko-Kore-KR" altLang="en-US" sz="1400" dirty="0"/>
          </a:p>
        </p:txBody>
      </p:sp>
      <p:sp>
        <p:nvSpPr>
          <p:cNvPr id="12" name="오른쪽 대괄호[R] 11">
            <a:extLst>
              <a:ext uri="{FF2B5EF4-FFF2-40B4-BE49-F238E27FC236}">
                <a16:creationId xmlns:a16="http://schemas.microsoft.com/office/drawing/2014/main" id="{D041F97E-FBD5-1227-EB6E-22B72B9B88CB}"/>
              </a:ext>
            </a:extLst>
          </p:cNvPr>
          <p:cNvSpPr/>
          <p:nvPr/>
        </p:nvSpPr>
        <p:spPr>
          <a:xfrm>
            <a:off x="6738620" y="2963537"/>
            <a:ext cx="170180" cy="1567823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3" name="꺾인 연결선[E] 12">
            <a:extLst>
              <a:ext uri="{FF2B5EF4-FFF2-40B4-BE49-F238E27FC236}">
                <a16:creationId xmlns:a16="http://schemas.microsoft.com/office/drawing/2014/main" id="{785F249A-37B4-09C6-592D-1A5D1BA6F037}"/>
              </a:ext>
            </a:extLst>
          </p:cNvPr>
          <p:cNvCxnSpPr>
            <a:cxnSpLocks/>
            <a:stCxn id="12" idx="2"/>
            <a:endCxn id="17" idx="1"/>
          </p:cNvCxnSpPr>
          <p:nvPr/>
        </p:nvCxnSpPr>
        <p:spPr>
          <a:xfrm rot="10800000" flipH="1">
            <a:off x="6908800" y="3429001"/>
            <a:ext cx="1333500" cy="318449"/>
          </a:xfrm>
          <a:prstGeom prst="bentConnector5">
            <a:avLst>
              <a:gd name="adj1" fmla="val 381"/>
              <a:gd name="adj2" fmla="val 101000"/>
              <a:gd name="adj3" fmla="val 62762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B0F72E1-CF60-73C7-3061-6C8BC8339EB5}"/>
              </a:ext>
            </a:extLst>
          </p:cNvPr>
          <p:cNvSpPr txBox="1"/>
          <p:nvPr/>
        </p:nvSpPr>
        <p:spPr>
          <a:xfrm>
            <a:off x="8242300" y="3167390"/>
            <a:ext cx="288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빌드 플레이트를 위 아래로 이동하여 레진을 묻히는 과정</a:t>
            </a:r>
            <a:endParaRPr kumimoji="1" lang="ko-Kore-KR" altLang="en-US" sz="1400" dirty="0"/>
          </a:p>
        </p:txBody>
      </p:sp>
      <p:sp>
        <p:nvSpPr>
          <p:cNvPr id="33" name="오른쪽 대괄호[R] 32">
            <a:extLst>
              <a:ext uri="{FF2B5EF4-FFF2-40B4-BE49-F238E27FC236}">
                <a16:creationId xmlns:a16="http://schemas.microsoft.com/office/drawing/2014/main" id="{3C7F12A0-66BD-D0FC-36AF-832E79A8D4BB}"/>
              </a:ext>
            </a:extLst>
          </p:cNvPr>
          <p:cNvSpPr/>
          <p:nvPr/>
        </p:nvSpPr>
        <p:spPr>
          <a:xfrm>
            <a:off x="5966460" y="4666197"/>
            <a:ext cx="129540" cy="677963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34" name="꺾인 연결선[E] 33">
            <a:extLst>
              <a:ext uri="{FF2B5EF4-FFF2-40B4-BE49-F238E27FC236}">
                <a16:creationId xmlns:a16="http://schemas.microsoft.com/office/drawing/2014/main" id="{7FE57729-2287-8419-CD64-BBF2F08E3120}"/>
              </a:ext>
            </a:extLst>
          </p:cNvPr>
          <p:cNvCxnSpPr>
            <a:cxnSpLocks/>
            <a:stCxn id="33" idx="2"/>
          </p:cNvCxnSpPr>
          <p:nvPr/>
        </p:nvCxnSpPr>
        <p:spPr>
          <a:xfrm rot="10800000" flipH="1" flipV="1">
            <a:off x="6096000" y="5005178"/>
            <a:ext cx="2346960" cy="74819"/>
          </a:xfrm>
          <a:prstGeom prst="bentConnector5">
            <a:avLst>
              <a:gd name="adj1" fmla="val 217"/>
              <a:gd name="adj2" fmla="val 96898"/>
              <a:gd name="adj3" fmla="val 5551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AC0A494-AD06-4263-71EE-521AB6B6CD7D}"/>
              </a:ext>
            </a:extLst>
          </p:cNvPr>
          <p:cNvSpPr txBox="1"/>
          <p:nvPr/>
        </p:nvSpPr>
        <p:spPr>
          <a:xfrm>
            <a:off x="8442960" y="4926109"/>
            <a:ext cx="2882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레이저 조사 </a:t>
            </a:r>
            <a:endParaRPr kumimoji="1" lang="ko-Kore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9005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E62DBF-F34A-A5A4-1BC4-E7EA2890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440" y="571083"/>
            <a:ext cx="10058400" cy="1450757"/>
          </a:xfrm>
        </p:spPr>
        <p:txBody>
          <a:bodyPr>
            <a:normAutofit/>
          </a:bodyPr>
          <a:lstStyle/>
          <a:p>
            <a:r>
              <a:rPr lang="en" altLang="ko-KR" sz="3200" b="1" dirty="0">
                <a:latin typeface="+mj-ea"/>
              </a:rPr>
              <a:t>9. Solid </a:t>
            </a:r>
            <a:r>
              <a:rPr lang="ko-KR" altLang="en-US" sz="3200" b="1" dirty="0">
                <a:latin typeface="+mj-ea"/>
              </a:rPr>
              <a:t>레이어 적층 작업 반복 </a:t>
            </a:r>
            <a:r>
              <a:rPr lang="en-US" altLang="ko-KR" sz="3200" b="1" dirty="0">
                <a:latin typeface="+mj-ea"/>
              </a:rPr>
              <a:t>(61</a:t>
            </a:r>
            <a:r>
              <a:rPr lang="ko-KR" altLang="en-US" sz="3200" b="1" dirty="0">
                <a:latin typeface="+mj-ea"/>
              </a:rPr>
              <a:t> </a:t>
            </a:r>
            <a:r>
              <a:rPr lang="en" altLang="ko-KR" sz="3200" b="1" dirty="0">
                <a:latin typeface="+mj-ea"/>
              </a:rPr>
              <a:t>layer</a:t>
            </a:r>
            <a:r>
              <a:rPr lang="ko-KR" altLang="en-US" sz="3200" b="1" dirty="0">
                <a:latin typeface="+mj-ea"/>
              </a:rPr>
              <a:t> </a:t>
            </a:r>
            <a:r>
              <a:rPr lang="en-US" altLang="ko-KR" sz="3200" b="1" dirty="0">
                <a:latin typeface="+mj-ea"/>
              </a:rPr>
              <a:t>~</a:t>
            </a:r>
            <a:r>
              <a:rPr lang="en" altLang="ko-KR" sz="3200" b="1" dirty="0">
                <a:latin typeface="+mj-ea"/>
              </a:rPr>
              <a:t>)</a:t>
            </a:r>
            <a:br>
              <a:rPr lang="en" altLang="ko-KR" sz="3200" b="1" dirty="0">
                <a:latin typeface="+mj-ea"/>
              </a:rPr>
            </a:br>
            <a:endParaRPr lang="ko-KR" altLang="en-US" sz="3200" b="1" dirty="0">
              <a:latin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F5BAE79-4B92-F264-C73A-1EF6ADB40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20" y="1884681"/>
            <a:ext cx="7741757" cy="4307840"/>
          </a:xfrm>
          <a:prstGeom prst="rect">
            <a:avLst/>
          </a:prstGeom>
        </p:spPr>
      </p:pic>
      <p:sp>
        <p:nvSpPr>
          <p:cNvPr id="3" name="오른쪽 대괄호[R] 2">
            <a:extLst>
              <a:ext uri="{FF2B5EF4-FFF2-40B4-BE49-F238E27FC236}">
                <a16:creationId xmlns:a16="http://schemas.microsoft.com/office/drawing/2014/main" id="{293E0400-957F-6241-6C2F-A4CC5B161404}"/>
              </a:ext>
            </a:extLst>
          </p:cNvPr>
          <p:cNvSpPr/>
          <p:nvPr/>
        </p:nvSpPr>
        <p:spPr>
          <a:xfrm>
            <a:off x="8082116" y="2103120"/>
            <a:ext cx="56043" cy="396240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4" name="꺾인 연결선[E] 3">
            <a:extLst>
              <a:ext uri="{FF2B5EF4-FFF2-40B4-BE49-F238E27FC236}">
                <a16:creationId xmlns:a16="http://schemas.microsoft.com/office/drawing/2014/main" id="{5D391455-0E94-F09F-34F8-47A2D2EDAB79}"/>
              </a:ext>
            </a:extLst>
          </p:cNvPr>
          <p:cNvCxnSpPr>
            <a:cxnSpLocks/>
            <a:stCxn id="3" idx="2"/>
          </p:cNvCxnSpPr>
          <p:nvPr/>
        </p:nvCxnSpPr>
        <p:spPr>
          <a:xfrm rot="10800000" flipH="1">
            <a:off x="8138158" y="2131512"/>
            <a:ext cx="629915" cy="169729"/>
          </a:xfrm>
          <a:prstGeom prst="bentConnector5">
            <a:avLst>
              <a:gd name="adj1" fmla="val 806"/>
              <a:gd name="adj2" fmla="val 95777"/>
              <a:gd name="adj3" fmla="val 5889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63217D-38A4-33F2-EF1E-73355CD37AFE}"/>
              </a:ext>
            </a:extLst>
          </p:cNvPr>
          <p:cNvSpPr txBox="1"/>
          <p:nvPr/>
        </p:nvSpPr>
        <p:spPr>
          <a:xfrm>
            <a:off x="8707120" y="1896335"/>
            <a:ext cx="199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1400" dirty="0"/>
              <a:t>작업</a:t>
            </a:r>
            <a:r>
              <a:rPr kumimoji="1" lang="ko-KR" altLang="en-US" sz="1400" dirty="0"/>
              <a:t> 불러오는 함수 호출과 완료</a:t>
            </a:r>
            <a:endParaRPr kumimoji="1" lang="ko-Kore-KR" altLang="en-US" sz="1400" dirty="0"/>
          </a:p>
        </p:txBody>
      </p:sp>
      <p:sp>
        <p:nvSpPr>
          <p:cNvPr id="12" name="오른쪽 대괄호[R] 11">
            <a:extLst>
              <a:ext uri="{FF2B5EF4-FFF2-40B4-BE49-F238E27FC236}">
                <a16:creationId xmlns:a16="http://schemas.microsoft.com/office/drawing/2014/main" id="{3D7AC36A-0BD0-0645-09C8-2A2EE30F6D37}"/>
              </a:ext>
            </a:extLst>
          </p:cNvPr>
          <p:cNvSpPr/>
          <p:nvPr/>
        </p:nvSpPr>
        <p:spPr>
          <a:xfrm>
            <a:off x="6817359" y="2750178"/>
            <a:ext cx="156047" cy="529278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3" name="꺾인 연결선[E] 12">
            <a:extLst>
              <a:ext uri="{FF2B5EF4-FFF2-40B4-BE49-F238E27FC236}">
                <a16:creationId xmlns:a16="http://schemas.microsoft.com/office/drawing/2014/main" id="{29EABA61-A536-79FB-FD53-28EE2EA1C3E5}"/>
              </a:ext>
            </a:extLst>
          </p:cNvPr>
          <p:cNvCxnSpPr>
            <a:cxnSpLocks/>
          </p:cNvCxnSpPr>
          <p:nvPr/>
        </p:nvCxnSpPr>
        <p:spPr>
          <a:xfrm>
            <a:off x="6973406" y="2938463"/>
            <a:ext cx="1647826" cy="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23D69AC-0DB1-6D1C-34FC-3043063CECB7}"/>
              </a:ext>
            </a:extLst>
          </p:cNvPr>
          <p:cNvSpPr txBox="1"/>
          <p:nvPr/>
        </p:nvSpPr>
        <p:spPr>
          <a:xfrm>
            <a:off x="8621232" y="2756235"/>
            <a:ext cx="288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빌드 플레이트를 한 </a:t>
            </a:r>
            <a:r>
              <a:rPr kumimoji="1" lang="en-US" altLang="ko-KR" sz="1400" dirty="0"/>
              <a:t>layer</a:t>
            </a:r>
            <a:r>
              <a:rPr kumimoji="1" lang="ko-KR" altLang="en-US" sz="1400" dirty="0"/>
              <a:t>만큼</a:t>
            </a:r>
            <a:endParaRPr kumimoji="1" lang="en-US" altLang="ko-KR" sz="1400" dirty="0"/>
          </a:p>
          <a:p>
            <a:r>
              <a:rPr kumimoji="1" lang="ko-KR" altLang="en-US" sz="1400" dirty="0"/>
              <a:t>아래로 이동 시키는 과정</a:t>
            </a:r>
            <a:endParaRPr kumimoji="1" lang="ko-Kore-KR" altLang="en-US" sz="1400" dirty="0"/>
          </a:p>
        </p:txBody>
      </p:sp>
      <p:sp>
        <p:nvSpPr>
          <p:cNvPr id="17" name="오른쪽 대괄호[R] 16">
            <a:extLst>
              <a:ext uri="{FF2B5EF4-FFF2-40B4-BE49-F238E27FC236}">
                <a16:creationId xmlns:a16="http://schemas.microsoft.com/office/drawing/2014/main" id="{409EE538-466F-6B2A-411C-E1A17E48B490}"/>
              </a:ext>
            </a:extLst>
          </p:cNvPr>
          <p:cNvSpPr/>
          <p:nvPr/>
        </p:nvSpPr>
        <p:spPr>
          <a:xfrm>
            <a:off x="6973406" y="3409810"/>
            <a:ext cx="156047" cy="529278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8" name="꺾인 연결선[E] 17">
            <a:extLst>
              <a:ext uri="{FF2B5EF4-FFF2-40B4-BE49-F238E27FC236}">
                <a16:creationId xmlns:a16="http://schemas.microsoft.com/office/drawing/2014/main" id="{1FD3D2F7-83CA-88C9-AFE4-58854E88E57F}"/>
              </a:ext>
            </a:extLst>
          </p:cNvPr>
          <p:cNvCxnSpPr>
            <a:cxnSpLocks/>
          </p:cNvCxnSpPr>
          <p:nvPr/>
        </p:nvCxnSpPr>
        <p:spPr>
          <a:xfrm>
            <a:off x="7129453" y="3598095"/>
            <a:ext cx="1491779" cy="12700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BFB8B96-197D-EAD6-69C3-1108749FB914}"/>
              </a:ext>
            </a:extLst>
          </p:cNvPr>
          <p:cNvSpPr txBox="1"/>
          <p:nvPr/>
        </p:nvSpPr>
        <p:spPr>
          <a:xfrm>
            <a:off x="8621232" y="3416000"/>
            <a:ext cx="2882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 err="1"/>
              <a:t>리코터를</a:t>
            </a:r>
            <a:r>
              <a:rPr kumimoji="1" lang="ko-KR" altLang="en-US" sz="1400" dirty="0"/>
              <a:t> </a:t>
            </a:r>
            <a:r>
              <a:rPr kumimoji="1" lang="ko-KR" altLang="en-US" sz="1400" dirty="0" err="1"/>
              <a:t>왔다갔다</a:t>
            </a:r>
            <a:r>
              <a:rPr kumimoji="1" lang="ko-KR" altLang="en-US" sz="1400" dirty="0"/>
              <a:t> 시키는 과정</a:t>
            </a:r>
            <a:endParaRPr kumimoji="1" lang="ko-Kore-KR" altLang="en-US" sz="1400" dirty="0"/>
          </a:p>
        </p:txBody>
      </p:sp>
      <p:sp>
        <p:nvSpPr>
          <p:cNvPr id="21" name="오른쪽 대괄호[R] 20">
            <a:extLst>
              <a:ext uri="{FF2B5EF4-FFF2-40B4-BE49-F238E27FC236}">
                <a16:creationId xmlns:a16="http://schemas.microsoft.com/office/drawing/2014/main" id="{2C685C89-2935-D499-8195-FAF18241F457}"/>
              </a:ext>
            </a:extLst>
          </p:cNvPr>
          <p:cNvSpPr/>
          <p:nvPr/>
        </p:nvSpPr>
        <p:spPr>
          <a:xfrm>
            <a:off x="5966460" y="4473157"/>
            <a:ext cx="129540" cy="760729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22" name="꺾인 연결선[E] 21">
            <a:extLst>
              <a:ext uri="{FF2B5EF4-FFF2-40B4-BE49-F238E27FC236}">
                <a16:creationId xmlns:a16="http://schemas.microsoft.com/office/drawing/2014/main" id="{FB279461-4B43-E2C0-E2B4-5203B3C13CE6}"/>
              </a:ext>
            </a:extLst>
          </p:cNvPr>
          <p:cNvCxnSpPr>
            <a:cxnSpLocks/>
            <a:stCxn id="21" idx="2"/>
          </p:cNvCxnSpPr>
          <p:nvPr/>
        </p:nvCxnSpPr>
        <p:spPr>
          <a:xfrm rot="10800000" flipH="1" flipV="1">
            <a:off x="6096000" y="4853522"/>
            <a:ext cx="2346960" cy="33434"/>
          </a:xfrm>
          <a:prstGeom prst="bentConnector5">
            <a:avLst>
              <a:gd name="adj1" fmla="val 217"/>
              <a:gd name="adj2" fmla="val 32287"/>
              <a:gd name="adj3" fmla="val 5551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C9D9E07-6A73-F867-8718-9F9DEAABBB34}"/>
              </a:ext>
            </a:extLst>
          </p:cNvPr>
          <p:cNvSpPr txBox="1"/>
          <p:nvPr/>
        </p:nvSpPr>
        <p:spPr>
          <a:xfrm>
            <a:off x="8442960" y="4926109"/>
            <a:ext cx="2882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레이저 조사 </a:t>
            </a:r>
            <a:endParaRPr kumimoji="1" lang="ko-Kore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45816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D0BEB-0531-DF3B-6B27-415D70427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E473E64-21CC-5A31-6FF1-EDDCB7FEC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85" y="1894708"/>
            <a:ext cx="7772400" cy="451125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4C61DE5-EBE0-FAAA-A604-6E379CA4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694" y="172392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10</a:t>
            </a:r>
            <a:r>
              <a:rPr lang="en-US" altLang="ko-KR" sz="3200" b="1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3200" b="1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프린팅 완료 및 작업 종료</a:t>
            </a:r>
            <a:endParaRPr lang="ko-KR" altLang="en-US" sz="3200" dirty="0"/>
          </a:p>
        </p:txBody>
      </p:sp>
      <p:sp>
        <p:nvSpPr>
          <p:cNvPr id="3" name="오른쪽 대괄호[R] 2">
            <a:extLst>
              <a:ext uri="{FF2B5EF4-FFF2-40B4-BE49-F238E27FC236}">
                <a16:creationId xmlns:a16="http://schemas.microsoft.com/office/drawing/2014/main" id="{58C844E5-5C11-66DB-9B2A-14168FB601FC}"/>
              </a:ext>
            </a:extLst>
          </p:cNvPr>
          <p:cNvSpPr/>
          <p:nvPr/>
        </p:nvSpPr>
        <p:spPr>
          <a:xfrm>
            <a:off x="5833439" y="1939756"/>
            <a:ext cx="45719" cy="280929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4" name="꺾인 연결선[E] 3">
            <a:extLst>
              <a:ext uri="{FF2B5EF4-FFF2-40B4-BE49-F238E27FC236}">
                <a16:creationId xmlns:a16="http://schemas.microsoft.com/office/drawing/2014/main" id="{B0A1594E-6153-4186-88BC-30913F98326C}"/>
              </a:ext>
            </a:extLst>
          </p:cNvPr>
          <p:cNvCxnSpPr>
            <a:cxnSpLocks/>
            <a:stCxn id="3" idx="2"/>
          </p:cNvCxnSpPr>
          <p:nvPr/>
        </p:nvCxnSpPr>
        <p:spPr>
          <a:xfrm rot="10800000" flipH="1">
            <a:off x="5879157" y="2046787"/>
            <a:ext cx="2346959" cy="33435"/>
          </a:xfrm>
          <a:prstGeom prst="bentConnector5">
            <a:avLst>
              <a:gd name="adj1" fmla="val -199"/>
              <a:gd name="adj2" fmla="val 99189"/>
              <a:gd name="adj3" fmla="val 5194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D0ABC57-C8FE-8C50-293D-14B9F09BC664}"/>
              </a:ext>
            </a:extLst>
          </p:cNvPr>
          <p:cNvSpPr txBox="1"/>
          <p:nvPr/>
        </p:nvSpPr>
        <p:spPr>
          <a:xfrm>
            <a:off x="8187914" y="1937707"/>
            <a:ext cx="2411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마지막 레이어 적층 완료</a:t>
            </a:r>
            <a:endParaRPr kumimoji="1" lang="ko-Kore-KR" altLang="en-US" sz="1400" dirty="0"/>
          </a:p>
        </p:txBody>
      </p:sp>
      <p:sp>
        <p:nvSpPr>
          <p:cNvPr id="12" name="오른쪽 대괄호[R] 11">
            <a:extLst>
              <a:ext uri="{FF2B5EF4-FFF2-40B4-BE49-F238E27FC236}">
                <a16:creationId xmlns:a16="http://schemas.microsoft.com/office/drawing/2014/main" id="{280F6A08-A838-13C1-255A-A9EBF0BA34D2}"/>
              </a:ext>
            </a:extLst>
          </p:cNvPr>
          <p:cNvSpPr/>
          <p:nvPr/>
        </p:nvSpPr>
        <p:spPr>
          <a:xfrm>
            <a:off x="7875342" y="2730627"/>
            <a:ext cx="197443" cy="629368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3" name="꺾인 연결선[E] 12">
            <a:extLst>
              <a:ext uri="{FF2B5EF4-FFF2-40B4-BE49-F238E27FC236}">
                <a16:creationId xmlns:a16="http://schemas.microsoft.com/office/drawing/2014/main" id="{3D09CBD4-D968-17A8-A1F6-2CB674AB6162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8072785" y="3017845"/>
            <a:ext cx="548447" cy="1752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28D5106-BE8B-0AD0-ADC1-82DBA2C1F150}"/>
              </a:ext>
            </a:extLst>
          </p:cNvPr>
          <p:cNvSpPr txBox="1"/>
          <p:nvPr/>
        </p:nvSpPr>
        <p:spPr>
          <a:xfrm>
            <a:off x="8621232" y="2756235"/>
            <a:ext cx="288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빌드 플레이트를 한 </a:t>
            </a:r>
            <a:r>
              <a:rPr kumimoji="1" lang="en-US" altLang="ko-KR" sz="1400" dirty="0"/>
              <a:t>layer</a:t>
            </a:r>
            <a:r>
              <a:rPr kumimoji="1" lang="ko-KR" altLang="en-US" sz="1400" dirty="0"/>
              <a:t>만큼</a:t>
            </a:r>
            <a:endParaRPr kumimoji="1" lang="en-US" altLang="ko-KR" sz="1400" dirty="0"/>
          </a:p>
          <a:p>
            <a:r>
              <a:rPr kumimoji="1" lang="ko-KR" altLang="en-US" sz="1400" dirty="0"/>
              <a:t>아래로 이동 시키는 과정</a:t>
            </a:r>
            <a:endParaRPr kumimoji="1" lang="ko-Kore-KR" altLang="en-US" sz="1400" dirty="0"/>
          </a:p>
        </p:txBody>
      </p:sp>
      <p:sp>
        <p:nvSpPr>
          <p:cNvPr id="17" name="오른쪽 대괄호[R] 16">
            <a:extLst>
              <a:ext uri="{FF2B5EF4-FFF2-40B4-BE49-F238E27FC236}">
                <a16:creationId xmlns:a16="http://schemas.microsoft.com/office/drawing/2014/main" id="{94902514-B796-FC66-412D-054F6F0532B4}"/>
              </a:ext>
            </a:extLst>
          </p:cNvPr>
          <p:cNvSpPr/>
          <p:nvPr/>
        </p:nvSpPr>
        <p:spPr>
          <a:xfrm>
            <a:off x="5733306" y="3546027"/>
            <a:ext cx="145851" cy="204729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8" name="꺾인 연결선[E] 17">
            <a:extLst>
              <a:ext uri="{FF2B5EF4-FFF2-40B4-BE49-F238E27FC236}">
                <a16:creationId xmlns:a16="http://schemas.microsoft.com/office/drawing/2014/main" id="{8E9D5C40-0248-23DD-6D7B-A3107E2F7711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5892681" y="3569889"/>
            <a:ext cx="2728551" cy="7215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29AC261-FC50-4F00-7074-68BD0184F5A4}"/>
              </a:ext>
            </a:extLst>
          </p:cNvPr>
          <p:cNvSpPr txBox="1"/>
          <p:nvPr/>
        </p:nvSpPr>
        <p:spPr>
          <a:xfrm>
            <a:off x="8621232" y="3416000"/>
            <a:ext cx="2882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 err="1"/>
              <a:t>리코터</a:t>
            </a:r>
            <a:r>
              <a:rPr kumimoji="1" lang="ko-KR" altLang="en-US" sz="1400" dirty="0"/>
              <a:t> 원점 이동</a:t>
            </a:r>
            <a:endParaRPr kumimoji="1" lang="ko-Kore-KR" altLang="en-US" sz="1400" dirty="0"/>
          </a:p>
        </p:txBody>
      </p:sp>
      <p:sp>
        <p:nvSpPr>
          <p:cNvPr id="21" name="오른쪽 대괄호[R] 20">
            <a:extLst>
              <a:ext uri="{FF2B5EF4-FFF2-40B4-BE49-F238E27FC236}">
                <a16:creationId xmlns:a16="http://schemas.microsoft.com/office/drawing/2014/main" id="{90E88DC6-7B49-F425-321B-F9DD00D757B9}"/>
              </a:ext>
            </a:extLst>
          </p:cNvPr>
          <p:cNvSpPr/>
          <p:nvPr/>
        </p:nvSpPr>
        <p:spPr>
          <a:xfrm>
            <a:off x="6011798" y="5481879"/>
            <a:ext cx="99753" cy="480381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22" name="꺾인 연결선[E] 21">
            <a:extLst>
              <a:ext uri="{FF2B5EF4-FFF2-40B4-BE49-F238E27FC236}">
                <a16:creationId xmlns:a16="http://schemas.microsoft.com/office/drawing/2014/main" id="{508052FF-FBCC-0447-8240-9D55104EF9AB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092889" y="5722070"/>
            <a:ext cx="2376745" cy="173608"/>
          </a:xfrm>
          <a:prstGeom prst="bentConnector5">
            <a:avLst>
              <a:gd name="adj1" fmla="val 589"/>
              <a:gd name="adj2" fmla="val 4074"/>
              <a:gd name="adj3" fmla="val 5419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F691C7B-5E27-2249-7920-76ED2C33F26F}"/>
              </a:ext>
            </a:extLst>
          </p:cNvPr>
          <p:cNvSpPr txBox="1"/>
          <p:nvPr/>
        </p:nvSpPr>
        <p:spPr>
          <a:xfrm>
            <a:off x="8469634" y="5634069"/>
            <a:ext cx="24471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빌드 플레이트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</a:t>
            </a:r>
            <a:r>
              <a:rPr kumimoji="1" lang="ko-KR" altLang="en-US" sz="1400" dirty="0" err="1"/>
              <a:t>리코터</a:t>
            </a:r>
            <a:r>
              <a:rPr kumimoji="1" lang="ko-KR" altLang="en-US" sz="1400" dirty="0"/>
              <a:t> 이동 및 조사의 총 시간 표시</a:t>
            </a:r>
            <a:endParaRPr kumimoji="1" lang="ko-Kore-KR" altLang="en-US" sz="1400" dirty="0"/>
          </a:p>
        </p:txBody>
      </p:sp>
      <p:cxnSp>
        <p:nvCxnSpPr>
          <p:cNvPr id="29" name="꺾인 연결선[E] 28">
            <a:extLst>
              <a:ext uri="{FF2B5EF4-FFF2-40B4-BE49-F238E27FC236}">
                <a16:creationId xmlns:a16="http://schemas.microsoft.com/office/drawing/2014/main" id="{9DCDAFB0-6B5C-01C3-E3DC-135417208F95}"/>
              </a:ext>
            </a:extLst>
          </p:cNvPr>
          <p:cNvCxnSpPr>
            <a:cxnSpLocks/>
          </p:cNvCxnSpPr>
          <p:nvPr/>
        </p:nvCxnSpPr>
        <p:spPr>
          <a:xfrm flipV="1">
            <a:off x="5500389" y="3935283"/>
            <a:ext cx="2818626" cy="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BEE7ACC-58A5-2D27-78A3-F501E03E202D}"/>
              </a:ext>
            </a:extLst>
          </p:cNvPr>
          <p:cNvSpPr txBox="1"/>
          <p:nvPr/>
        </p:nvSpPr>
        <p:spPr>
          <a:xfrm>
            <a:off x="8347008" y="3810079"/>
            <a:ext cx="2882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모델 </a:t>
            </a:r>
            <a:r>
              <a:rPr kumimoji="1" lang="en-US" altLang="ko-KR" sz="1400" dirty="0"/>
              <a:t>5</a:t>
            </a:r>
            <a:r>
              <a:rPr kumimoji="1" lang="ko-KR" altLang="en-US" sz="1400" dirty="0" err="1"/>
              <a:t>분동안</a:t>
            </a:r>
            <a:r>
              <a:rPr kumimoji="1" lang="ko-KR" altLang="en-US" sz="1400" dirty="0"/>
              <a:t> 레진에 </a:t>
            </a:r>
            <a:r>
              <a:rPr kumimoji="1" lang="ko-KR" altLang="en-US" sz="1400" dirty="0" err="1"/>
              <a:t>담구기</a:t>
            </a:r>
            <a:endParaRPr kumimoji="1" lang="ko-Kore-KR" altLang="en-US" sz="1400" dirty="0"/>
          </a:p>
        </p:txBody>
      </p:sp>
      <p:sp>
        <p:nvSpPr>
          <p:cNvPr id="32" name="오른쪽 대괄호[R] 31">
            <a:extLst>
              <a:ext uri="{FF2B5EF4-FFF2-40B4-BE49-F238E27FC236}">
                <a16:creationId xmlns:a16="http://schemas.microsoft.com/office/drawing/2014/main" id="{670853F7-1C49-6F82-704A-B73200388ABD}"/>
              </a:ext>
            </a:extLst>
          </p:cNvPr>
          <p:cNvSpPr/>
          <p:nvPr/>
        </p:nvSpPr>
        <p:spPr>
          <a:xfrm>
            <a:off x="7638435" y="4108608"/>
            <a:ext cx="96643" cy="594020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33" name="꺾인 연결선[E] 32">
            <a:extLst>
              <a:ext uri="{FF2B5EF4-FFF2-40B4-BE49-F238E27FC236}">
                <a16:creationId xmlns:a16="http://schemas.microsoft.com/office/drawing/2014/main" id="{E5F9C596-CA78-A7B2-BBEB-100D3E6F054E}"/>
              </a:ext>
            </a:extLst>
          </p:cNvPr>
          <p:cNvCxnSpPr>
            <a:cxnSpLocks/>
          </p:cNvCxnSpPr>
          <p:nvPr/>
        </p:nvCxnSpPr>
        <p:spPr>
          <a:xfrm>
            <a:off x="7719525" y="4348799"/>
            <a:ext cx="985936" cy="12700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C4EA636-4220-1FF1-38D5-458466C8D043}"/>
              </a:ext>
            </a:extLst>
          </p:cNvPr>
          <p:cNvSpPr txBox="1"/>
          <p:nvPr/>
        </p:nvSpPr>
        <p:spPr>
          <a:xfrm>
            <a:off x="8705461" y="4208995"/>
            <a:ext cx="3186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 err="1"/>
              <a:t>담구기</a:t>
            </a:r>
            <a:r>
              <a:rPr kumimoji="1" lang="ko-KR" altLang="en-US" sz="1400" dirty="0"/>
              <a:t> 끝</a:t>
            </a:r>
            <a:r>
              <a:rPr kumimoji="1" lang="en-US" altLang="ko-KR" sz="1400" dirty="0"/>
              <a:t>.</a:t>
            </a:r>
            <a:r>
              <a:rPr kumimoji="1" lang="ko-KR" altLang="en-US" sz="1400" dirty="0"/>
              <a:t> 빌드 플레이트 들어올리기</a:t>
            </a:r>
            <a:endParaRPr kumimoji="1" lang="ko-Kore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28930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E9412-2478-1C3C-F20C-B0CFF01B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6974"/>
            <a:ext cx="10058400" cy="1450757"/>
          </a:xfrm>
        </p:spPr>
        <p:txBody>
          <a:bodyPr/>
          <a:lstStyle/>
          <a:p>
            <a:r>
              <a:rPr lang="ko-KR" altLang="en-US" dirty="0"/>
              <a:t>베드 플레이트 위치 정보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4CD7B37-4668-DE8D-9516-5CDC7AA8D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91" y="1990033"/>
            <a:ext cx="5514975" cy="17049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7CECEC2-F095-6203-E025-437D928F9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91" y="4097310"/>
            <a:ext cx="5514975" cy="186176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E985860-AFC8-3E17-2118-385563E0F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767" y="2348152"/>
            <a:ext cx="6301233" cy="177086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A631A15-5237-B3D6-E282-95CA365C42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9905" y="4233463"/>
            <a:ext cx="5824388" cy="1981142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33C7581C-431C-1179-F522-461591DBD9E8}"/>
              </a:ext>
            </a:extLst>
          </p:cNvPr>
          <p:cNvSpPr/>
          <p:nvPr/>
        </p:nvSpPr>
        <p:spPr>
          <a:xfrm>
            <a:off x="5890767" y="3519059"/>
            <a:ext cx="6301233" cy="2286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9D25ECF-3ADA-0A60-EAD0-FBADE3052D4A}"/>
              </a:ext>
            </a:extLst>
          </p:cNvPr>
          <p:cNvSpPr/>
          <p:nvPr/>
        </p:nvSpPr>
        <p:spPr>
          <a:xfrm>
            <a:off x="780531" y="3172290"/>
            <a:ext cx="5110235" cy="202214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153DE4D-7E60-5E26-5047-8E0E4BDE246B}"/>
              </a:ext>
            </a:extLst>
          </p:cNvPr>
          <p:cNvSpPr/>
          <p:nvPr/>
        </p:nvSpPr>
        <p:spPr>
          <a:xfrm>
            <a:off x="5870406" y="5746813"/>
            <a:ext cx="5824389" cy="21226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C598B34-B75D-6618-FCD2-4665AF51A588}"/>
              </a:ext>
            </a:extLst>
          </p:cNvPr>
          <p:cNvSpPr/>
          <p:nvPr/>
        </p:nvSpPr>
        <p:spPr>
          <a:xfrm>
            <a:off x="689091" y="5487733"/>
            <a:ext cx="5220814" cy="21226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443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C1ED5-99C2-EB20-3564-17FDBDB70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380" y="80863"/>
            <a:ext cx="10058400" cy="1450757"/>
          </a:xfrm>
        </p:spPr>
        <p:txBody>
          <a:bodyPr/>
          <a:lstStyle/>
          <a:p>
            <a:r>
              <a:rPr lang="en-US" altLang="ko-KR" dirty="0"/>
              <a:t>EPS </a:t>
            </a:r>
            <a:r>
              <a:rPr lang="ko-KR" altLang="en-US" dirty="0"/>
              <a:t>공차 </a:t>
            </a:r>
            <a:r>
              <a:rPr lang="en-US" altLang="ko-KR" dirty="0"/>
              <a:t>(0.08, 0.02, 0.1)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4FA30A-A7D4-D0B1-8BAA-DC76C14F1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2" y="2651059"/>
            <a:ext cx="8092544" cy="1076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E883D8-560E-6B13-B0D5-D87C5BA1C9A5}"/>
              </a:ext>
            </a:extLst>
          </p:cNvPr>
          <p:cNvSpPr txBox="1"/>
          <p:nvPr/>
        </p:nvSpPr>
        <p:spPr>
          <a:xfrm>
            <a:off x="533400" y="3738965"/>
            <a:ext cx="3291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0 Layer ( </a:t>
            </a:r>
            <a:r>
              <a:rPr lang="ko-KR" altLang="en-US" sz="1200" dirty="0"/>
              <a:t>레진 </a:t>
            </a:r>
            <a:r>
              <a:rPr lang="ko-KR" altLang="en-US" sz="1200" dirty="0" err="1"/>
              <a:t>타겟레벨</a:t>
            </a:r>
            <a:r>
              <a:rPr lang="ko-KR" altLang="en-US" sz="1200" dirty="0"/>
              <a:t> </a:t>
            </a:r>
            <a:r>
              <a:rPr lang="en-US" altLang="ko-KR" sz="1200" dirty="0"/>
              <a:t>1.2</a:t>
            </a:r>
            <a:r>
              <a:rPr lang="ko-KR" altLang="en-US" sz="1200" dirty="0" err="1"/>
              <a:t>일때</a:t>
            </a:r>
            <a:r>
              <a:rPr lang="ko-KR" altLang="en-US" sz="1200" dirty="0"/>
              <a:t>  공차 </a:t>
            </a:r>
            <a:r>
              <a:rPr lang="en-US" altLang="ko-KR" sz="1200" dirty="0"/>
              <a:t>0.08)</a:t>
            </a:r>
            <a:endParaRPr lang="ko-KR" altLang="en-US" sz="1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E906065-889A-0176-3195-D51279AA3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95044"/>
            <a:ext cx="8161020" cy="9815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CA370C-DB08-FC32-8964-0ACE21C12309}"/>
              </a:ext>
            </a:extLst>
          </p:cNvPr>
          <p:cNvSpPr txBox="1"/>
          <p:nvPr/>
        </p:nvSpPr>
        <p:spPr>
          <a:xfrm>
            <a:off x="533400" y="5333970"/>
            <a:ext cx="567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0 Layer ( </a:t>
            </a:r>
            <a:r>
              <a:rPr lang="ko-KR" altLang="en-US" sz="1200" dirty="0"/>
              <a:t>레진 </a:t>
            </a:r>
            <a:r>
              <a:rPr lang="ko-KR" altLang="en-US" sz="1200" dirty="0" err="1"/>
              <a:t>타겟레벨</a:t>
            </a:r>
            <a:r>
              <a:rPr lang="ko-KR" altLang="en-US" sz="1200" dirty="0"/>
              <a:t> </a:t>
            </a:r>
            <a:r>
              <a:rPr lang="en-US" altLang="ko-KR" sz="1200" dirty="0"/>
              <a:t>1.2-&gt; </a:t>
            </a:r>
            <a:r>
              <a:rPr lang="ko-KR" altLang="en-US" sz="1200" dirty="0"/>
              <a:t> 공차 </a:t>
            </a:r>
            <a:r>
              <a:rPr lang="en-US" altLang="ko-KR" sz="1200" dirty="0"/>
              <a:t>0.08 </a:t>
            </a:r>
            <a:r>
              <a:rPr lang="ko-KR" altLang="en-US" sz="1200" dirty="0"/>
              <a:t>안에 진입</a:t>
            </a:r>
            <a:r>
              <a:rPr lang="en-US" altLang="ko-KR" sz="1200" dirty="0"/>
              <a:t>-&gt; </a:t>
            </a:r>
            <a:r>
              <a:rPr lang="ko-KR" altLang="en-US" sz="1200" dirty="0"/>
              <a:t>수위 조절 완료 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3D06A2-32E2-D6A9-7C9C-C36753041EE6}"/>
              </a:ext>
            </a:extLst>
          </p:cNvPr>
          <p:cNvSpPr/>
          <p:nvPr/>
        </p:nvSpPr>
        <p:spPr>
          <a:xfrm>
            <a:off x="2072641" y="4847524"/>
            <a:ext cx="6682739" cy="15063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4B769A82-B0CF-7FBD-86C8-B83E1959B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131185"/>
              </p:ext>
            </p:extLst>
          </p:nvPr>
        </p:nvGraphicFramePr>
        <p:xfrm>
          <a:off x="7722526" y="455946"/>
          <a:ext cx="4293519" cy="2055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173">
                  <a:extLst>
                    <a:ext uri="{9D8B030D-6E8A-4147-A177-3AD203B41FA5}">
                      <a16:colId xmlns:a16="http://schemas.microsoft.com/office/drawing/2014/main" val="3172123940"/>
                    </a:ext>
                  </a:extLst>
                </a:gridCol>
                <a:gridCol w="1431173">
                  <a:extLst>
                    <a:ext uri="{9D8B030D-6E8A-4147-A177-3AD203B41FA5}">
                      <a16:colId xmlns:a16="http://schemas.microsoft.com/office/drawing/2014/main" val="3171538129"/>
                    </a:ext>
                  </a:extLst>
                </a:gridCol>
                <a:gridCol w="1431173">
                  <a:extLst>
                    <a:ext uri="{9D8B030D-6E8A-4147-A177-3AD203B41FA5}">
                      <a16:colId xmlns:a16="http://schemas.microsoft.com/office/drawing/2014/main" val="3837793346"/>
                    </a:ext>
                  </a:extLst>
                </a:gridCol>
              </a:tblGrid>
              <a:tr h="2427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LAYER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EPS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TARGET RESIN LEVEL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07642"/>
                  </a:ext>
                </a:extLst>
              </a:tr>
              <a:tr h="4718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0.08-&gt;0.1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1.2-&gt;0.0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7874"/>
                  </a:ext>
                </a:extLst>
              </a:tr>
              <a:tr h="4718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3-39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001813"/>
                  </a:ext>
                </a:extLst>
              </a:tr>
              <a:tr h="4718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42-</a:t>
                      </a:r>
                      <a:r>
                        <a:rPr lang="ko-KR" altLang="en-US" dirty="0" err="1"/>
                        <a:t>끝레이어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0..0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59896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E8907B7-8595-FCCC-626D-43605FD1C967}"/>
              </a:ext>
            </a:extLst>
          </p:cNvPr>
          <p:cNvSpPr txBox="1"/>
          <p:nvPr/>
        </p:nvSpPr>
        <p:spPr>
          <a:xfrm>
            <a:off x="8724205" y="2651059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- EPS</a:t>
            </a:r>
            <a:r>
              <a:rPr lang="ko-KR" altLang="en-US" sz="1200" dirty="0"/>
              <a:t>와 </a:t>
            </a:r>
            <a:r>
              <a:rPr lang="en-US" altLang="ko-KR" sz="1200" dirty="0"/>
              <a:t>TARGET RESIN LEVEL </a:t>
            </a:r>
            <a:r>
              <a:rPr lang="ko-KR" altLang="en-US" sz="1200" dirty="0"/>
              <a:t>의 연관성은 발견하지 못함</a:t>
            </a:r>
          </a:p>
        </p:txBody>
      </p:sp>
    </p:spTree>
    <p:extLst>
      <p:ext uri="{BB962C8B-B14F-4D97-AF65-F5344CB8AC3E}">
        <p14:creationId xmlns:p14="http://schemas.microsoft.com/office/powerpoint/2010/main" val="2523115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C7B7C5-DEE1-83C3-BC30-1C8021D89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EPS </a:t>
            </a:r>
            <a:r>
              <a:rPr lang="ko-KR" altLang="en-US" dirty="0"/>
              <a:t>공차 </a:t>
            </a:r>
            <a:r>
              <a:rPr lang="en-US" altLang="ko-KR" dirty="0"/>
              <a:t>(0.08, 0.02, 0.1)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AB1426-D9BE-3163-0124-97BB6E037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" y="2128179"/>
            <a:ext cx="10518978" cy="137702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7C3922F-BF4E-417A-3D12-1DE2A580D754}"/>
              </a:ext>
            </a:extLst>
          </p:cNvPr>
          <p:cNvSpPr/>
          <p:nvPr/>
        </p:nvSpPr>
        <p:spPr>
          <a:xfrm>
            <a:off x="695960" y="2320126"/>
            <a:ext cx="10518978" cy="28175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1671CA-6D2F-74FC-00B7-888602619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59" y="4087966"/>
            <a:ext cx="10717781" cy="121555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52F51B5-6FBB-EAF5-E1FF-D65A62B8B5BE}"/>
              </a:ext>
            </a:extLst>
          </p:cNvPr>
          <p:cNvSpPr/>
          <p:nvPr/>
        </p:nvSpPr>
        <p:spPr>
          <a:xfrm>
            <a:off x="607059" y="4087966"/>
            <a:ext cx="10607879" cy="28175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6B827D-AAB4-2FD3-F58B-EB1B69FB09F6}"/>
              </a:ext>
            </a:extLst>
          </p:cNvPr>
          <p:cNvSpPr txBox="1"/>
          <p:nvPr/>
        </p:nvSpPr>
        <p:spPr>
          <a:xfrm>
            <a:off x="857596" y="3556599"/>
            <a:ext cx="3291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0 Layer ( </a:t>
            </a:r>
            <a:r>
              <a:rPr lang="ko-KR" altLang="en-US" sz="1200" dirty="0"/>
              <a:t>레진 공차 </a:t>
            </a:r>
            <a:r>
              <a:rPr lang="en-US" altLang="ko-KR" sz="1200" dirty="0"/>
              <a:t>0.1)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AFF0B4-3AF2-9895-C59C-13EC3416CDB7}"/>
              </a:ext>
            </a:extLst>
          </p:cNvPr>
          <p:cNvSpPr txBox="1"/>
          <p:nvPr/>
        </p:nvSpPr>
        <p:spPr>
          <a:xfrm>
            <a:off x="695960" y="5493417"/>
            <a:ext cx="3291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0 Layer ( </a:t>
            </a:r>
            <a:r>
              <a:rPr lang="ko-KR" altLang="en-US" sz="1200" dirty="0"/>
              <a:t>레진 </a:t>
            </a:r>
            <a:r>
              <a:rPr lang="ko-KR" altLang="en-US" sz="1200" dirty="0" err="1"/>
              <a:t>타겟레벨</a:t>
            </a:r>
            <a:r>
              <a:rPr lang="ko-KR" altLang="en-US" sz="1200" dirty="0"/>
              <a:t>  </a:t>
            </a:r>
            <a:r>
              <a:rPr lang="en-US" altLang="ko-KR" sz="1200" dirty="0"/>
              <a:t>0 </a:t>
            </a:r>
            <a:r>
              <a:rPr lang="ko-KR" altLang="en-US" sz="1200" dirty="0"/>
              <a:t>공차 </a:t>
            </a:r>
            <a:r>
              <a:rPr lang="en-US" altLang="ko-KR" sz="1200" dirty="0"/>
              <a:t>0.1</a:t>
            </a:r>
            <a:r>
              <a:rPr lang="ko-KR" altLang="en-US" sz="1200" dirty="0"/>
              <a:t>안에 진입 </a:t>
            </a:r>
            <a:r>
              <a:rPr lang="en-US" altLang="ko-KR" sz="1200" dirty="0"/>
              <a:t>-&gt; 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12280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C3A7C-50A3-71F6-73D8-098F494F1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SCAN TIME ( support, model )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398B067-CD98-4724-397A-C89DE68D8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1852008"/>
            <a:ext cx="6708371" cy="10285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227F4FD-3AF6-5921-F513-19830F3FC256}"/>
              </a:ext>
            </a:extLst>
          </p:cNvPr>
          <p:cNvSpPr txBox="1"/>
          <p:nvPr/>
        </p:nvSpPr>
        <p:spPr>
          <a:xfrm>
            <a:off x="7863840" y="2212388"/>
            <a:ext cx="329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1 - 61Layer (support scan time – 0.5-0.7s)</a:t>
            </a:r>
            <a:endParaRPr lang="ko-KR" altLang="en-US" sz="1400" b="1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AACF737-98B1-9139-8FAD-B05EBADFC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8" y="2991414"/>
            <a:ext cx="6708372" cy="10285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261683-CB2E-0B14-82AE-55209F2579E5}"/>
              </a:ext>
            </a:extLst>
          </p:cNvPr>
          <p:cNvSpPr txBox="1"/>
          <p:nvPr/>
        </p:nvSpPr>
        <p:spPr>
          <a:xfrm>
            <a:off x="7922029" y="3563033"/>
            <a:ext cx="3854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 62Layer (support-&gt; model </a:t>
            </a:r>
            <a:r>
              <a:rPr lang="ko-KR" altLang="en-US" sz="1400" b="1" dirty="0" err="1"/>
              <a:t>바뀔때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scan time -8s )</a:t>
            </a:r>
            <a:endParaRPr lang="ko-KR" altLang="en-US" sz="1400" b="1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A035034-EC07-2387-AB31-93330795E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98" y="4175696"/>
            <a:ext cx="6708372" cy="10285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A94B695-371D-FD87-3437-4FCC2B376A71}"/>
              </a:ext>
            </a:extLst>
          </p:cNvPr>
          <p:cNvSpPr txBox="1"/>
          <p:nvPr/>
        </p:nvSpPr>
        <p:spPr>
          <a:xfrm>
            <a:off x="7922029" y="4790265"/>
            <a:ext cx="3854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 63-358 Layer (model scan time -1.5s )</a:t>
            </a:r>
            <a:endParaRPr lang="ko-KR" altLang="en-US" sz="1400" b="1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53D3F3F-63FE-FE25-37F5-371BAE708B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98" y="5359978"/>
            <a:ext cx="6708372" cy="106628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9D7E193-2A3A-3187-7A93-ACAA3ECEEA27}"/>
              </a:ext>
            </a:extLst>
          </p:cNvPr>
          <p:cNvSpPr txBox="1"/>
          <p:nvPr/>
        </p:nvSpPr>
        <p:spPr>
          <a:xfrm>
            <a:off x="7922028" y="5585341"/>
            <a:ext cx="3854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 359 Layer </a:t>
            </a:r>
            <a:r>
              <a:rPr lang="ko-KR" altLang="en-US" sz="1400" b="1" dirty="0"/>
              <a:t>마지막 레이어 </a:t>
            </a:r>
            <a:r>
              <a:rPr lang="en-US" altLang="ko-KR" sz="1400" b="1" dirty="0"/>
              <a:t>(model scan time -8s )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70176171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1319</TotalTime>
  <Words>484</Words>
  <Application>Microsoft Macintosh PowerPoint</Application>
  <PresentationFormat>와이드스크린</PresentationFormat>
  <Paragraphs>80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-webkit-standard</vt:lpstr>
      <vt:lpstr>맑은 고딕</vt:lpstr>
      <vt:lpstr>Calibri</vt:lpstr>
      <vt:lpstr>Calibri Light</vt:lpstr>
      <vt:lpstr>추억</vt:lpstr>
      <vt:lpstr>SLA 600 LOG DATA</vt:lpstr>
      <vt:lpstr>로그 데이터 전체적인 과정</vt:lpstr>
      <vt:lpstr>1. 프린트 시작</vt:lpstr>
      <vt:lpstr>2. 베큠 펌프 작동 &amp; 3. 스캐너/엘리베이터/리코터/레진 블럭의 원점 초기화</vt:lpstr>
      <vt:lpstr>4. 레진 수위 체크 및 수면 버블 제거</vt:lpstr>
      <vt:lpstr>4. 레진 수위 체크 및 수면 버블 제거</vt:lpstr>
      <vt:lpstr>5. 출력 시작 전 대기 &amp; 6. 프린팅 시작 준비 </vt:lpstr>
      <vt:lpstr> </vt:lpstr>
      <vt:lpstr>8. Support 레이어 적층 작업 반복 (1~60 layer) </vt:lpstr>
      <vt:lpstr>9. Solid 레이어 적층 작업 반복 (61 layer ~) </vt:lpstr>
      <vt:lpstr>10. 프린팅 완료 및 작업 종료</vt:lpstr>
      <vt:lpstr>베드 플레이트 위치 정보</vt:lpstr>
      <vt:lpstr>EPS 공차 (0.08, 0.02, 0.1)</vt:lpstr>
      <vt:lpstr>EPS 공차 (0.08, 0.02, 0.1)</vt:lpstr>
      <vt:lpstr>SCAN TIME ( support, model 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지윤 김</dc:creator>
  <cp:lastModifiedBy>이경림</cp:lastModifiedBy>
  <cp:revision>16</cp:revision>
  <dcterms:created xsi:type="dcterms:W3CDTF">2025-04-07T07:34:12Z</dcterms:created>
  <dcterms:modified xsi:type="dcterms:W3CDTF">2026-08-29T09:12:43Z</dcterms:modified>
</cp:coreProperties>
</file>